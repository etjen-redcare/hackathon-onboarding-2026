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e5171338984f60" /><Relationship Type="http://schemas.openxmlformats.org/officeDocument/2006/relationships/extended-properties" Target="/docProps/app.xml" Id="Re3495572d44247a0" /><Relationship Type="http://schemas.openxmlformats.org/officeDocument/2006/relationships/officeDocument" Target="/ppt/presentation.xml" Id="R456f9f442a0a41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3cc197ce91482b"/>
  </p:sldMasterIdLst>
  <p:notesMasterIdLst>
    <p:notesMasterId xmlns:r="http://schemas.openxmlformats.org/officeDocument/2006/relationships" r:id="R19c40407a38d4ca0"/>
  </p:notesMasterIdLst>
  <p:sldIdLst>
    <p:sldId xmlns:r="http://schemas.openxmlformats.org/officeDocument/2006/relationships" id="256" r:id="Ree64b2cb6bde433e"/>
    <p:sldId xmlns:r="http://schemas.openxmlformats.org/officeDocument/2006/relationships" id="257" r:id="R2507d8898f574fcc"/>
    <p:sldId xmlns:r="http://schemas.openxmlformats.org/officeDocument/2006/relationships" id="258" r:id="R62d39dd2a95846be"/>
    <p:sldId xmlns:r="http://schemas.openxmlformats.org/officeDocument/2006/relationships" id="259" r:id="Rd613b550fc2c4d3b"/>
    <p:sldId xmlns:r="http://schemas.openxmlformats.org/officeDocument/2006/relationships" id="260" r:id="Rca0fcc9608fd464b"/>
    <p:sldId xmlns:r="http://schemas.openxmlformats.org/officeDocument/2006/relationships" id="261" r:id="Rcc0d250db8094175"/>
    <p:sldId xmlns:r="http://schemas.openxmlformats.org/officeDocument/2006/relationships" id="262" r:id="Ra6fadc69e7294564"/>
    <p:sldId xmlns:r="http://schemas.openxmlformats.org/officeDocument/2006/relationships" id="263" r:id="R1e7396da187f4628"/>
    <p:sldId xmlns:r="http://schemas.openxmlformats.org/officeDocument/2006/relationships" id="264" r:id="R00bd1652ac844e53"/>
    <p:sldId xmlns:r="http://schemas.openxmlformats.org/officeDocument/2006/relationships" id="265" r:id="R69d22e54ca514ca5"/>
    <p:sldId xmlns:r="http://schemas.openxmlformats.org/officeDocument/2006/relationships" id="266" r:id="Rf50daf29072f458d"/>
    <p:sldId xmlns:r="http://schemas.openxmlformats.org/officeDocument/2006/relationships" id="267" r:id="Rfd96b972baab44b2"/>
    <p:sldId xmlns:r="http://schemas.openxmlformats.org/officeDocument/2006/relationships" id="268" r:id="Rb61c892a8e414906"/>
    <p:sldId xmlns:r="http://schemas.openxmlformats.org/officeDocument/2006/relationships" id="269" r:id="R2a2160a5cf5f4297"/>
    <p:sldId xmlns:r="http://schemas.openxmlformats.org/officeDocument/2006/relationships" id="270" r:id="Rccc689da997d4883"/>
    <p:sldId xmlns:r="http://schemas.openxmlformats.org/officeDocument/2006/relationships" id="271" r:id="Rbce3fde98f9847ef"/>
    <p:sldId xmlns:r="http://schemas.openxmlformats.org/officeDocument/2006/relationships" id="272" r:id="Rc03d378791384739"/>
    <p:sldId xmlns:r="http://schemas.openxmlformats.org/officeDocument/2006/relationships" id="273" r:id="Rc7dc2d4f14874f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994a1653ad4a97" /><Relationship Type="http://schemas.openxmlformats.org/officeDocument/2006/relationships/slideMaster" Target="/ppt/slideMasters/slideMaster1.xml" Id="R533cc197ce91482b" /><Relationship Type="http://schemas.openxmlformats.org/officeDocument/2006/relationships/notesMaster" Target="/ppt/notesMasters/notesMaster1.xml" Id="R19c40407a38d4ca0" /><Relationship Type="http://schemas.openxmlformats.org/officeDocument/2006/relationships/presProps" Target="/ppt/presProps.xml" Id="Rc50b511babc94613" /><Relationship Type="http://schemas.openxmlformats.org/officeDocument/2006/relationships/tableStyles" Target="/ppt/tableStyles.xml" Id="Rd196625ffc85406e" /><Relationship Type="http://schemas.openxmlformats.org/officeDocument/2006/relationships/slide" Target="/ppt/slides/slide1.xml" Id="Ree64b2cb6bde433e" /><Relationship Type="http://schemas.openxmlformats.org/officeDocument/2006/relationships/slide" Target="/ppt/slides/slide2.xml" Id="R2507d8898f574fcc" /><Relationship Type="http://schemas.openxmlformats.org/officeDocument/2006/relationships/slide" Target="/ppt/slides/slide3.xml" Id="R62d39dd2a95846be" /><Relationship Type="http://schemas.openxmlformats.org/officeDocument/2006/relationships/slide" Target="/ppt/slides/slide4.xml" Id="Rd613b550fc2c4d3b" /><Relationship Type="http://schemas.openxmlformats.org/officeDocument/2006/relationships/slide" Target="/ppt/slides/slide5.xml" Id="Rca0fcc9608fd464b" /><Relationship Type="http://schemas.openxmlformats.org/officeDocument/2006/relationships/slide" Target="/ppt/slides/slide6.xml" Id="Rcc0d250db8094175" /><Relationship Type="http://schemas.openxmlformats.org/officeDocument/2006/relationships/slide" Target="/ppt/slides/slide7.xml" Id="Ra6fadc69e7294564" /><Relationship Type="http://schemas.openxmlformats.org/officeDocument/2006/relationships/slide" Target="/ppt/slides/slide8.xml" Id="R1e7396da187f4628" /><Relationship Type="http://schemas.openxmlformats.org/officeDocument/2006/relationships/slide" Target="/ppt/slides/slide9.xml" Id="R00bd1652ac844e53" /><Relationship Type="http://schemas.openxmlformats.org/officeDocument/2006/relationships/slide" Target="/ppt/slides/slide10.xml" Id="R69d22e54ca514ca5" /><Relationship Type="http://schemas.openxmlformats.org/officeDocument/2006/relationships/slide" Target="/ppt/slides/slide11.xml" Id="Rf50daf29072f458d" /><Relationship Type="http://schemas.openxmlformats.org/officeDocument/2006/relationships/slide" Target="/ppt/slides/slide12.xml" Id="Rfd96b972baab44b2" /><Relationship Type="http://schemas.openxmlformats.org/officeDocument/2006/relationships/slide" Target="/ppt/slides/slide13.xml" Id="Rb61c892a8e414906" /><Relationship Type="http://schemas.openxmlformats.org/officeDocument/2006/relationships/slide" Target="/ppt/slides/slide14.xml" Id="R2a2160a5cf5f4297" /><Relationship Type="http://schemas.openxmlformats.org/officeDocument/2006/relationships/slide" Target="/ppt/slides/slide15.xml" Id="Rccc689da997d4883" /><Relationship Type="http://schemas.openxmlformats.org/officeDocument/2006/relationships/slide" Target="/ppt/slides/slide16.xml" Id="Rbce3fde98f9847ef" /><Relationship Type="http://schemas.openxmlformats.org/officeDocument/2006/relationships/slide" Target="/ppt/slides/slide17.xml" Id="Rc03d378791384739" /><Relationship Type="http://schemas.openxmlformats.org/officeDocument/2006/relationships/slide" Target="/ppt/slides/slide18.xml" Id="Rc7dc2d4f14874f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a4eef2f9d544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11c90a30ad4dcf" /><Relationship Type="http://schemas.openxmlformats.org/officeDocument/2006/relationships/notesMaster" Target="/ppt/notesMasters/notesMaster1.xml" Id="Rf8ebe6ccdffc44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2628af7f104a73" /><Relationship Type="http://schemas.openxmlformats.org/officeDocument/2006/relationships/notesMaster" Target="/ppt/notesMasters/notesMaster1.xml" Id="Rd54f4c60adb84f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a2d881b6c749ce" /><Relationship Type="http://schemas.openxmlformats.org/officeDocument/2006/relationships/notesMaster" Target="/ppt/notesMasters/notesMaster1.xml" Id="R11547050e0484d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e3d6d12b184cf5" /><Relationship Type="http://schemas.openxmlformats.org/officeDocument/2006/relationships/notesMaster" Target="/ppt/notesMasters/notesMaster1.xml" Id="Rfe338c1e45fd44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49f4313a2147f8" /><Relationship Type="http://schemas.openxmlformats.org/officeDocument/2006/relationships/notesMaster" Target="/ppt/notesMasters/notesMaster1.xml" Id="Re5f733ebdda34c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a5faa9f9d744ad" /><Relationship Type="http://schemas.openxmlformats.org/officeDocument/2006/relationships/notesMaster" Target="/ppt/notesMasters/notesMaster1.xml" Id="Rd92b9e9d2b8a4d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25b93d94254637" /><Relationship Type="http://schemas.openxmlformats.org/officeDocument/2006/relationships/notesMaster" Target="/ppt/notesMasters/notesMaster1.xml" Id="Rcc16926e728442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7860abc58d4c95" /><Relationship Type="http://schemas.openxmlformats.org/officeDocument/2006/relationships/notesMaster" Target="/ppt/notesMasters/notesMaster1.xml" Id="R1a4c9dfcf6fe4b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f43a06d0e44395" /><Relationship Type="http://schemas.openxmlformats.org/officeDocument/2006/relationships/notesMaster" Target="/ppt/notesMasters/notesMaster1.xml" Id="Ra5fbf128ca9248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c31eef5eb046af" /><Relationship Type="http://schemas.openxmlformats.org/officeDocument/2006/relationships/notesMaster" Target="/ppt/notesMasters/notesMaster1.xml" Id="Rcfd362e806274f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556fd03d6441d3" /><Relationship Type="http://schemas.openxmlformats.org/officeDocument/2006/relationships/notesMaster" Target="/ppt/notesMasters/notesMaster1.xml" Id="Rdce50071f4874a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4090597fe24c42" /><Relationship Type="http://schemas.openxmlformats.org/officeDocument/2006/relationships/notesMaster" Target="/ppt/notesMasters/notesMaster1.xml" Id="Rb5ff8223c3c843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87d5620a1c434f" /><Relationship Type="http://schemas.openxmlformats.org/officeDocument/2006/relationships/notesMaster" Target="/ppt/notesMasters/notesMaster1.xml" Id="R76b4e2c9831140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36837bdfdd548d2" /><Relationship Type="http://schemas.openxmlformats.org/officeDocument/2006/relationships/notesMaster" Target="/ppt/notesMasters/notesMaster1.xml" Id="R6174cecfdcd942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f82775f87c94896" /><Relationship Type="http://schemas.openxmlformats.org/officeDocument/2006/relationships/notesMaster" Target="/ppt/notesMasters/notesMaster1.xml" Id="R38f692bec5574c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ea99b20e844cb3" /><Relationship Type="http://schemas.openxmlformats.org/officeDocument/2006/relationships/notesMaster" Target="/ppt/notesMasters/notesMaster1.xml" Id="Rb75b151f1d2646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6ea09fdfbe4468f" /><Relationship Type="http://schemas.openxmlformats.org/officeDocument/2006/relationships/notesMaster" Target="/ppt/notesMasters/notesMaster1.xml" Id="R0b2f37cd2f134da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388410abc043e0" /><Relationship Type="http://schemas.openxmlformats.org/officeDocument/2006/relationships/notesMaster" Target="/ppt/notesMasters/notesMaster1.xml" Id="R849ba981bcba40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9bd0457ea844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631726cdb645da" /><Relationship Type="http://schemas.openxmlformats.org/officeDocument/2006/relationships/slideLayout" Target="/ppt/slideLayouts/slideLayout1.xml" Id="R4938fd1277f649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38fd1277f649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0c4b8aafd4e25" /><Relationship Type="http://schemas.openxmlformats.org/officeDocument/2006/relationships/image" Target="/ppt/media/image.png" Id="R59c05799e67a4bce" /><Relationship Type="http://schemas.openxmlformats.org/officeDocument/2006/relationships/image" Target="/ppt/media/image2.png" Id="R38f1a77585794a3e" /><Relationship Type="http://schemas.openxmlformats.org/officeDocument/2006/relationships/notesSlide" Target="/ppt/notesSlides/notesSlide1.xml" Id="Rb50515d9a7f349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8edfd45374187" /><Relationship Type="http://schemas.openxmlformats.org/officeDocument/2006/relationships/notesSlide" Target="/ppt/notesSlides/notesSlide2.xml" Id="Rbce2c022d2004b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1e045161141a4" /><Relationship Type="http://schemas.openxmlformats.org/officeDocument/2006/relationships/image" Target="/ppt/media/image3.png" Id="R8a612f7f74ac478c" /><Relationship Type="http://schemas.openxmlformats.org/officeDocument/2006/relationships/image" Target="/ppt/media/image4.png" Id="Rc24df19db544412e" /><Relationship Type="http://schemas.openxmlformats.org/officeDocument/2006/relationships/image" Target="/ppt/media/image5.png" Id="R44773a8b6fdd4715" /><Relationship Type="http://schemas.openxmlformats.org/officeDocument/2006/relationships/image" Target="/ppt/media/image6.png" Id="Rf432afbb624746db" /><Relationship Type="http://schemas.openxmlformats.org/officeDocument/2006/relationships/image" Target="/ppt/media/image7.png" Id="Rb9586fdd619d4d87" /><Relationship Type="http://schemas.openxmlformats.org/officeDocument/2006/relationships/image" Target="/ppt/media/image8.png" Id="R7866755594fe466b" /><Relationship Type="http://schemas.openxmlformats.org/officeDocument/2006/relationships/notesSlide" Target="/ppt/notesSlides/notesSlide3.xml" Id="Rcd7505adbbe649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bb307f0c84caf" /><Relationship Type="http://schemas.openxmlformats.org/officeDocument/2006/relationships/image" Target="/ppt/media/image9.png" Id="Rc8496509751b47c9" /><Relationship Type="http://schemas.openxmlformats.org/officeDocument/2006/relationships/image" Target="/ppt/media/image10.png" Id="R14a8ff4664484646" /><Relationship Type="http://schemas.openxmlformats.org/officeDocument/2006/relationships/image" Target="/ppt/media/image11.png" Id="R64305344f0fd4e78" /><Relationship Type="http://schemas.openxmlformats.org/officeDocument/2006/relationships/image" Target="/ppt/media/image12.png" Id="R7a40c683016644cf" /><Relationship Type="http://schemas.openxmlformats.org/officeDocument/2006/relationships/notesSlide" Target="/ppt/notesSlides/notesSlide4.xml" Id="Rfae3601d390440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38b8a41914df6" /><Relationship Type="http://schemas.openxmlformats.org/officeDocument/2006/relationships/image" Target="/ppt/media/image13.png" Id="R4dcdb0a494634627" /><Relationship Type="http://schemas.openxmlformats.org/officeDocument/2006/relationships/image" Target="/ppt/media/image14.png" Id="R8234c06ab02841ab" /><Relationship Type="http://schemas.openxmlformats.org/officeDocument/2006/relationships/image" Target="/ppt/media/image15.png" Id="Re619abdade5a45c5" /><Relationship Type="http://schemas.openxmlformats.org/officeDocument/2006/relationships/image" Target="/ppt/media/image16.png" Id="R230ff6be51474bbc" /><Relationship Type="http://schemas.openxmlformats.org/officeDocument/2006/relationships/notesSlide" Target="/ppt/notesSlides/notesSlide5.xml" Id="R77df1f55a9f045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e78372e794bca" /><Relationship Type="http://schemas.openxmlformats.org/officeDocument/2006/relationships/notesSlide" Target="/ppt/notesSlides/notesSlide6.xml" Id="Rcca123b270e04c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9b544d89f41ed" /><Relationship Type="http://schemas.openxmlformats.org/officeDocument/2006/relationships/notesSlide" Target="/ppt/notesSlides/notesSlide7.xml" Id="R875c32a2641940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7ee5342454197" /><Relationship Type="http://schemas.openxmlformats.org/officeDocument/2006/relationships/image" Target="/ppt/media/image17.png" Id="R581f96de0b5945ed" /><Relationship Type="http://schemas.openxmlformats.org/officeDocument/2006/relationships/notesSlide" Target="/ppt/notesSlides/notesSlide8.xml" Id="R7be8b5ad77614a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c6036cdaf48b9" /><Relationship Type="http://schemas.openxmlformats.org/officeDocument/2006/relationships/image" Target="/ppt/media/image18.png" Id="Ra7e6ea10de7843cd" /><Relationship Type="http://schemas.openxmlformats.org/officeDocument/2006/relationships/notesSlide" Target="/ppt/notesSlides/notesSlide9.xml" Id="R261ff231890e47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7a2195e8d438e" /><Relationship Type="http://schemas.openxmlformats.org/officeDocument/2006/relationships/image" Target="/ppt/media/image19.png" Id="R888bd71ae15744d9" /><Relationship Type="http://schemas.openxmlformats.org/officeDocument/2006/relationships/notesSlide" Target="/ppt/notesSlides/notesSlide10.xml" Id="R348dacac494647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639801ceb4548" /><Relationship Type="http://schemas.openxmlformats.org/officeDocument/2006/relationships/image" Target="/ppt/media/image20.png" Id="R63b2bc8e08ae44b3" /><Relationship Type="http://schemas.openxmlformats.org/officeDocument/2006/relationships/notesSlide" Target="/ppt/notesSlides/notesSlide11.xml" Id="R2c84437b8773465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c648cd1c2449c" /><Relationship Type="http://schemas.openxmlformats.org/officeDocument/2006/relationships/image" Target="/ppt/media/image21.png" Id="R3636875c678545af" /><Relationship Type="http://schemas.openxmlformats.org/officeDocument/2006/relationships/notesSlide" Target="/ppt/notesSlides/notesSlide12.xml" Id="Ra910fae72b6949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7b0f1da9849a5" /><Relationship Type="http://schemas.openxmlformats.org/officeDocument/2006/relationships/image" Target="/ppt/media/image22.png" Id="R1e8b11138c514ba8" /><Relationship Type="http://schemas.openxmlformats.org/officeDocument/2006/relationships/notesSlide" Target="/ppt/notesSlides/notesSlide13.xml" Id="Rd67ef69fe94546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efa40f2c94d4c" /><Relationship Type="http://schemas.openxmlformats.org/officeDocument/2006/relationships/image" Target="/ppt/media/image23.png" Id="R4ef86416eb3c4403" /><Relationship Type="http://schemas.openxmlformats.org/officeDocument/2006/relationships/notesSlide" Target="/ppt/notesSlides/notesSlide14.xml" Id="Rf72525a5494941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9688f32ff470f" /><Relationship Type="http://schemas.openxmlformats.org/officeDocument/2006/relationships/notesSlide" Target="/ppt/notesSlides/notesSlide15.xml" Id="R78ecae3be3ca42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474e2bb8542f9" /><Relationship Type="http://schemas.openxmlformats.org/officeDocument/2006/relationships/notesSlide" Target="/ppt/notesSlides/notesSlide16.xml" Id="R4d9b3101b72b4d0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c6ed337604205" /><Relationship Type="http://schemas.openxmlformats.org/officeDocument/2006/relationships/image" Target="/ppt/media/image24.png" Id="R0d4e43418b39440a" /><Relationship Type="http://schemas.openxmlformats.org/officeDocument/2006/relationships/notesSlide" Target="/ppt/notesSlides/notesSlide17.xml" Id="R70fd6b9c095d4e2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452644c4f4dc1" /><Relationship Type="http://schemas.openxmlformats.org/officeDocument/2006/relationships/image" Target="/ppt/media/image25.png" Id="Re27d96980e4040f6" /><Relationship Type="http://schemas.openxmlformats.org/officeDocument/2006/relationships/image" Target="/ppt/media/image26.png" Id="Ra03d0c0df9134ac7" /><Relationship Type="http://schemas.openxmlformats.org/officeDocument/2006/relationships/image" Target="/ppt/media/image27.png" Id="R5e4c46c473994b2b" /><Relationship Type="http://schemas.openxmlformats.org/officeDocument/2006/relationships/image" Target="/ppt/media/image28.png" Id="Ref8a264c091f4991" /><Relationship Type="http://schemas.openxmlformats.org/officeDocument/2006/relationships/image" Target="/ppt/media/image29.png" Id="R0ef4a32a46c04886" /><Relationship Type="http://schemas.openxmlformats.org/officeDocument/2006/relationships/image" Target="/ppt/media/image30.png" Id="Reb6a9d89a7074191" /><Relationship Type="http://schemas.openxmlformats.org/officeDocument/2006/relationships/image" Target="/ppt/media/image31.png" Id="R169bd9f5103846f9" /><Relationship Type="http://schemas.openxmlformats.org/officeDocument/2006/relationships/notesSlide" Target="/ppt/notesSlides/notesSlide18.xml" Id="R431853e22bd54c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33B27-3D4B-4D11-9743-13255604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BF8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53C5E-A086-469C-9DE6-C935F1C5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0"/>
            <a:ext cx="4800600" cy="68580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FE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B5EE3-FBFA-4712-BB8C-A6DB0E99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4003A"/>
                </a:solidFill>
              </a:defRPr>
            </a:pPr>
            <a:r>
              <a:rPr sz="1050" b="1">
                <a:solidFill>
                  <a:srgbClr val="E4003A"/>
                </a:solidFill>
              </a:rPr>
              <a:t>REDCare iOS onboarding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09285-352E-41C7-83B8-0D5E0BDF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6286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B1C1B"/>
                </a:solidFill>
              </a:defRPr>
            </a:pPr>
            <a:r>
              <a:rPr sz="4200" b="1">
                <a:solidFill>
                  <a:srgbClr val="1B1C1B"/>
                </a:solidFill>
              </a:rPr>
              <a:t>Route intent before asking for permissions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EA378-7318-48C9-A715-D1DE7BF1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81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45E5C"/>
                </a:solidFill>
              </a:defRPr>
            </a:pPr>
            <a:r>
              <a:rPr sz="1725">
                <a:solidFill>
                  <a:srgbClr val="645E5C"/>
                </a:solidFill>
              </a:rPr>
              <a:t>A refreshed recommendation deck using the latest guest and logged-in production captures as the screen source of truth, with metrics from the read-only Q3 iOS analysis.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BB4FB-3F0A-4B88-AAE4-AB3D8719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000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31CB2-BE90-4BAC-8641-0B2A3088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4003A"/>
                </a:solidFill>
              </a:defRPr>
            </a:pPr>
            <a:r>
              <a:rPr sz="2250" b="1">
                <a:solidFill>
                  <a:srgbClr val="E4003A"/>
                </a:solidFill>
              </a:rPr>
              <a:t>~19.5%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DFACF-E2B1-4A2D-9A31-FCA4BBE9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loss near Identification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AB35A-8FB3-4B88-8336-2E1570F2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29150"/>
            <a:ext cx="2000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8FAEA-B4DC-4D2C-AA34-458D9B0F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625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4003A"/>
                </a:solidFill>
              </a:defRPr>
            </a:pPr>
            <a:r>
              <a:rPr sz="2250" b="1">
                <a:solidFill>
                  <a:srgbClr val="E4003A"/>
                </a:solidFill>
              </a:rPr>
              <a:t>6.5%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6166E5-E650-4BF3-ADAB-5F91A7A2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1435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onboarding push opt-in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9AEC85-4B38-4B13-B7C0-889A7690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29150"/>
            <a:ext cx="2000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F1863F-57F4-4750-98F2-06C62F2D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625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C48"/>
                </a:solidFill>
              </a:defRPr>
            </a:pPr>
            <a:r>
              <a:rPr sz="2250" b="1">
                <a:solidFill>
                  <a:srgbClr val="006C48"/>
                </a:solidFill>
              </a:rPr>
              <a:t>61%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C963F1-3A6B-4B91-86CA-A4758708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1435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purchase chance after cart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c05799e67a4bce"/>
          <a:stretch xmlns:a="http://schemas.openxmlformats.org/drawingml/2006/main"/>
        </p:blipFill>
        <p:spPr>
          <a:xfrm xmlns:a="http://schemas.openxmlformats.org/drawingml/2006/main">
            <a:off x="7586379" y="819150"/>
            <a:ext cx="1962717" cy="4267200"/>
          </a:xfrm>
          <a:prstGeom xmlns:a="http://schemas.openxmlformats.org/drawingml/2006/main" prst="roundRect">
            <a:avLst>
              <a:gd name="adj" fmla="val 7729"/>
            </a:avLst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1a77585794a3e"/>
          <a:stretch xmlns:a="http://schemas.openxmlformats.org/drawingml/2006/main"/>
        </p:blipFill>
        <p:spPr>
          <a:xfrm xmlns:a="http://schemas.openxmlformats.org/drawingml/2006/main">
            <a:off x="9108472" y="1790700"/>
            <a:ext cx="1918906" cy="4171950"/>
          </a:xfrm>
          <a:prstGeom xmlns:a="http://schemas.openxmlformats.org/drawingml/2006/main" prst="roundRect">
            <a:avLst>
              <a:gd name="adj" fmla="val 7921"/>
            </a:avLst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845AF-3656-4998-B62F-303F1568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ED8748-83C3-4A41-B2C2-B8B57F44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1/18</a:t>
            </a:r>
          </a:p>
        </p:txBody>
      </p:sp>
    </p:spTree>
    <p:extLst>
      <p:ext uri="{BB962C8B-B14F-4D97-AF65-F5344CB8AC3E}">
        <p14:creationId xmlns:p14="http://schemas.microsoft.com/office/powerpoint/2010/main" val="301019140"/>
      </p:ext>
    </p:extLst>
  </p:cSld>
  <p:transition spd="med"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4C6068-CCB1-45C4-8339-D545B43F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READ-ONLY SOURCE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3D1E1-8C24-42D5-B44A-B937007D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funnel issue is not only screen count. It is when value becomes clear.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C6D94-6C4E-43F5-A4E3-07A14195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source board points to a sharp loss near Identification, weak onboarding push opt-in, and a strong cart moment that can carry loyalty and retention asks.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C1BF81-CBA0-4B49-A26C-B75E36C6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5F6AA-31DD-487D-8EAA-9D1EE980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B1C1B"/>
                </a:solidFill>
              </a:defRPr>
            </a:pPr>
            <a:r>
              <a:rPr sz="2250" b="1">
                <a:solidFill>
                  <a:srgbClr val="1B1C1B"/>
                </a:solidFill>
              </a:rPr>
              <a:t>295.8k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DABC7-26E5-4F25-A642-4CEC4BEF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unique users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287D4-2BD2-419E-B3F9-292AEF19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F32E98-BF1C-438D-8991-260E9C6F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57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C48"/>
                </a:solidFill>
              </a:defRPr>
            </a:pPr>
            <a:r>
              <a:rPr sz="2250" b="1">
                <a:solidFill>
                  <a:srgbClr val="006C48"/>
                </a:solidFill>
              </a:rPr>
              <a:t>226.9k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C16BB8-BA0E-4E40-BC7B-A54D436F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38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reach Home, 76.7%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73FB7-BB28-40DC-AE18-A7B76F7A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24150"/>
            <a:ext cx="21336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ED9CEC-8191-42E9-8CB5-403A8EDA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575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4003A"/>
                </a:solidFill>
              </a:defRPr>
            </a:pPr>
            <a:r>
              <a:rPr sz="2250" b="1">
                <a:solidFill>
                  <a:srgbClr val="E4003A"/>
                </a:solidFill>
              </a:rPr>
              <a:t>~19.5%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98FD1-2C15-42A4-B577-9473A167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385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largest loss near Identification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9196AA-FD22-46DD-8BA8-CCC3F1C5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2415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1927A-9EC8-4C44-A084-9AE797D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57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4003A"/>
                </a:solidFill>
              </a:defRPr>
            </a:pPr>
            <a:r>
              <a:rPr sz="2250" b="1">
                <a:solidFill>
                  <a:srgbClr val="E4003A"/>
                </a:solidFill>
              </a:rPr>
              <a:t>6.5%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423FD-D942-478A-AD41-BEADC896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38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push opt-in in onboarding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EA5BB1-9B36-4B24-A0CA-D923B569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2415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B0B058-ACC2-43F4-B7CB-08BC1782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57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B1C1B"/>
                </a:solidFill>
              </a:defRPr>
            </a:pPr>
            <a:r>
              <a:rPr sz="2250" b="1">
                <a:solidFill>
                  <a:srgbClr val="1B1C1B"/>
                </a:solidFill>
              </a:rPr>
              <a:t>~20%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B59E3-77C9-42F7-BE7D-EEE538AF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industry push benchmark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83FC59-024B-4666-BAAD-5B4C5E5E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222D2F-9A40-44A4-B4F1-359A2BD6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4003A"/>
                </a:solidFill>
              </a:defRPr>
            </a:pPr>
            <a:r>
              <a:rPr sz="2250" b="1">
                <a:solidFill>
                  <a:srgbClr val="E4003A"/>
                </a:solidFill>
              </a:rPr>
              <a:t>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C92363-15E9-4A49-82DF-009E7490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91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guest start-to-finish conversion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BB7AD7-82F4-4731-AD57-D4D1E1B8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7670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5922E-DF50-4EF4-BCA4-061153D7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10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B1C1B"/>
                </a:solidFill>
              </a:defRPr>
            </a:pPr>
            <a:r>
              <a:rPr sz="2250" b="1">
                <a:solidFill>
                  <a:srgbClr val="1B1C1B"/>
                </a:solidFill>
              </a:rPr>
              <a:t>11.6%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7D8786-7C8F-4488-9ED7-FEB2B385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591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registered start-to-finish conversion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2F4FD0-634D-4D00-A1A9-9C183B3F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7670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6970C6-6EED-43F8-9F14-066DDA47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10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C48"/>
                </a:solidFill>
              </a:defRPr>
            </a:pPr>
            <a:r>
              <a:rPr sz="2250" b="1">
                <a:solidFill>
                  <a:srgbClr val="006C48"/>
                </a:solidFill>
              </a:rPr>
              <a:t>17.1%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ABFC53-2672-4D75-8676-A6E5F986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591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logged-in start-to-finish conversion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E997F8-831F-43DD-B2BD-57D3AFB9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76700"/>
            <a:ext cx="1809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7C111F-1EBB-4CF2-A515-E0E8D961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0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C48"/>
                </a:solidFill>
              </a:defRPr>
            </a:pPr>
            <a:r>
              <a:rPr sz="2250" b="1">
                <a:solidFill>
                  <a:srgbClr val="006C48"/>
                </a:solidFill>
              </a:rPr>
              <a:t>61%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6A4BD1-9B88-4B3B-AF72-306C6D04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91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purchase chance after cart visit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33DAC3-4015-4187-906E-B5E47D44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2108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2BB4BE-C3ED-47AB-9CBB-8BF74A03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34050"/>
            <a:ext cx="960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6C48"/>
                </a:solidFill>
              </a:defRPr>
            </a:pPr>
            <a:r>
              <a:rPr sz="1500" b="1">
                <a:solidFill>
                  <a:srgbClr val="006C48"/>
                </a:solidFill>
              </a:rPr>
              <a:t>Design implication: make the first session prove relevance earlier, then time each account, loyalty, and notification ask to a visible benefit.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CECD72-0947-4CC8-9FF0-30FE655B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AD6E0A-BEEB-42B7-960E-12488A0B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1793204240"/>
      </p:ext>
    </p:extLst>
  </p:cSld>
  <p:transition spd="med">
    <p:fade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EF7ACD-26C8-4BAA-A93D-87DF74EE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CURRENT PRODUCTION CAPTURE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7EF6B-217E-4047-9C7A-3309B22A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intent split is live, but it arrives after several trust-costly 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6130F-3AF6-46D5-9AE3-806CB8CB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newest screenshots show that Redcare already has the right strategic direction. The opportunity is sequencing and specificity.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12f7f74ac478c"/>
          <a:stretch xmlns:a="http://schemas.openxmlformats.org/drawingml/2006/main"/>
        </p:blipFill>
        <p:spPr>
          <a:xfrm xmlns:a="http://schemas.openxmlformats.org/drawingml/2006/main">
            <a:off x="534806" y="2590800"/>
            <a:ext cx="1454513" cy="3162300"/>
          </a:xfrm>
          <a:prstGeom xmlns:a="http://schemas.openxmlformats.org/drawingml/2006/main" prst="roundRect">
            <a:avLst>
              <a:gd name="adj" fmla="val 10458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28D752-7CAF-4C01-B10D-D15F68F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05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B1C1B"/>
                </a:solidFill>
              </a:defRPr>
            </a:pPr>
            <a:r>
              <a:rPr sz="1200" b="1">
                <a:solidFill>
                  <a:srgbClr val="1B1C1B"/>
                </a:solidFill>
              </a:rPr>
              <a:t>Consent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df19db544412e"/>
          <a:stretch xmlns:a="http://schemas.openxmlformats.org/drawingml/2006/main"/>
        </p:blipFill>
        <p:spPr>
          <a:xfrm xmlns:a="http://schemas.openxmlformats.org/drawingml/2006/main">
            <a:off x="2420756" y="2590800"/>
            <a:ext cx="1454513" cy="3162300"/>
          </a:xfrm>
          <a:prstGeom xmlns:a="http://schemas.openxmlformats.org/drawingml/2006/main" prst="roundRect">
            <a:avLst>
              <a:gd name="adj" fmla="val 1045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8C6A32-8A65-498B-BB74-7B469156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905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B1C1B"/>
                </a:solidFill>
              </a:defRPr>
            </a:pPr>
            <a:r>
              <a:rPr sz="1200" b="1">
                <a:solidFill>
                  <a:srgbClr val="1B1C1B"/>
                </a:solidFill>
              </a:rPr>
              <a:t>Account choice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73a8b6fdd4715"/>
          <a:stretch xmlns:a="http://schemas.openxmlformats.org/drawingml/2006/main"/>
        </p:blipFill>
        <p:spPr>
          <a:xfrm xmlns:a="http://schemas.openxmlformats.org/drawingml/2006/main">
            <a:off x="4306706" y="2590800"/>
            <a:ext cx="1454513" cy="3162300"/>
          </a:xfrm>
          <a:prstGeom xmlns:a="http://schemas.openxmlformats.org/drawingml/2006/main" prst="roundRect">
            <a:avLst>
              <a:gd name="adj" fmla="val 10458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49078-474F-4270-AFAE-8D832861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905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B1C1B"/>
                </a:solidFill>
              </a:defRPr>
            </a:pPr>
            <a:r>
              <a:rPr sz="1200" b="1">
                <a:solidFill>
                  <a:srgbClr val="1B1C1B"/>
                </a:solidFill>
              </a:rPr>
              <a:t>Login path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2afbb624746db"/>
          <a:stretch xmlns:a="http://schemas.openxmlformats.org/drawingml/2006/main"/>
        </p:blipFill>
        <p:spPr>
          <a:xfrm xmlns:a="http://schemas.openxmlformats.org/drawingml/2006/main">
            <a:off x="6192656" y="2590800"/>
            <a:ext cx="1454513" cy="3162300"/>
          </a:xfrm>
          <a:prstGeom xmlns:a="http://schemas.openxmlformats.org/drawingml/2006/main" prst="roundRect">
            <a:avLst>
              <a:gd name="adj" fmla="val 10458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A0D27-91F8-4BD6-808C-D538FB10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905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4003A"/>
                </a:solidFill>
              </a:defRPr>
            </a:pPr>
            <a:r>
              <a:rPr sz="1200" b="1">
                <a:solidFill>
                  <a:srgbClr val="E4003A"/>
                </a:solidFill>
              </a:rPr>
              <a:t>Push ask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86fdd619d4d87"/>
          <a:stretch xmlns:a="http://schemas.openxmlformats.org/drawingml/2006/main"/>
        </p:blipFill>
        <p:spPr>
          <a:xfrm xmlns:a="http://schemas.openxmlformats.org/drawingml/2006/main">
            <a:off x="8078606" y="2590800"/>
            <a:ext cx="1454513" cy="3162300"/>
          </a:xfrm>
          <a:prstGeom xmlns:a="http://schemas.openxmlformats.org/drawingml/2006/main" prst="roundRect">
            <a:avLst>
              <a:gd name="adj" fmla="val 10458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FCAFAB-24F6-4A99-89B6-79CB11F7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905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4003A"/>
                </a:solidFill>
              </a:defRPr>
            </a:pPr>
            <a:r>
              <a:rPr sz="1200" b="1">
                <a:solidFill>
                  <a:srgbClr val="E4003A"/>
                </a:solidFill>
              </a:rPr>
              <a:t>RedPoints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6755594fe466b"/>
          <a:stretch xmlns:a="http://schemas.openxmlformats.org/drawingml/2006/main"/>
        </p:blipFill>
        <p:spPr>
          <a:xfrm xmlns:a="http://schemas.openxmlformats.org/drawingml/2006/main">
            <a:off x="9964556" y="2590800"/>
            <a:ext cx="1454513" cy="3162300"/>
          </a:xfrm>
          <a:prstGeom xmlns:a="http://schemas.openxmlformats.org/drawingml/2006/main" prst="roundRect">
            <a:avLst>
              <a:gd name="adj" fmla="val 10458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F385F-B2C3-444F-B241-BF6A0FBA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055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B1C1B"/>
                </a:solidFill>
              </a:defRPr>
            </a:pPr>
            <a:r>
              <a:rPr sz="1200" b="1">
                <a:solidFill>
                  <a:srgbClr val="1B1C1B"/>
                </a:solidFill>
              </a:rPr>
              <a:t>Intent split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53DC17-2C8F-4711-95D2-E88733FA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305050"/>
            <a:ext cx="44767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A8265E-8D91-445F-BA29-4151517C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81250"/>
            <a:ext cx="417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4003A"/>
                </a:solidFill>
              </a:defRPr>
            </a:pPr>
            <a:r>
              <a:rPr sz="1050" b="1">
                <a:solidFill>
                  <a:srgbClr val="E4003A"/>
                </a:solidFill>
              </a:rPr>
              <a:t>Current issue: the split appears after push and loyalty prompts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27B090-0839-4ECE-B84F-D9ED00F2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BBA8E0-0B3B-4C29-AC96-482D4B79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425953988"/>
      </p:ext>
    </p:extLst>
  </p:cSld>
  <p:transition spd="med">
    <p:push dir="l"/>
  </p:transition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31A79D-39DE-4408-BBAC-B32ED540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GUEST PATH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5118F-EF0D-462D-A78C-BF798D50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Guests reach Home, but shopping intent still gets an eRx-first landing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30848-E408-4B58-9A06-6F96743C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missing capture confirms the branch: after Discover range, Home opens with search, recommendations, and a dominant e-prescription discount banner.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96509751b47c9"/>
          <a:stretch xmlns:a="http://schemas.openxmlformats.org/drawingml/2006/main"/>
        </p:blipFill>
        <p:spPr>
          <a:xfrm xmlns:a="http://schemas.openxmlformats.org/drawingml/2006/main">
            <a:off x="897900" y="2667000"/>
            <a:ext cx="1480800" cy="3219450"/>
          </a:xfrm>
          <a:prstGeom xmlns:a="http://schemas.openxmlformats.org/drawingml/2006/main" prst="roundRect">
            <a:avLst>
              <a:gd name="adj" fmla="val 1025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FC26A-6996-47FD-8C2B-E9519CC1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19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B1C1B"/>
                </a:solidFill>
              </a:defRPr>
            </a:pPr>
            <a:r>
              <a:rPr sz="1125" b="1">
                <a:solidFill>
                  <a:srgbClr val="1B1C1B"/>
                </a:solidFill>
              </a:rPr>
              <a:t>Account choice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8ff4664484646"/>
          <a:stretch xmlns:a="http://schemas.openxmlformats.org/drawingml/2006/main"/>
        </p:blipFill>
        <p:spPr>
          <a:xfrm xmlns:a="http://schemas.openxmlformats.org/drawingml/2006/main">
            <a:off x="3603000" y="2667000"/>
            <a:ext cx="1480800" cy="3219450"/>
          </a:xfrm>
          <a:prstGeom xmlns:a="http://schemas.openxmlformats.org/drawingml/2006/main" prst="roundRect">
            <a:avLst>
              <a:gd name="adj" fmla="val 1025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4D9B6-3750-4B1F-83FE-C9E1A3E6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019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4003A"/>
                </a:solidFill>
              </a:defRPr>
            </a:pPr>
            <a:r>
              <a:rPr sz="1125" b="1">
                <a:solidFill>
                  <a:srgbClr val="E4003A"/>
                </a:solidFill>
              </a:rPr>
              <a:t>Push ask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05344f0fd4e78"/>
          <a:stretch xmlns:a="http://schemas.openxmlformats.org/drawingml/2006/main"/>
        </p:blipFill>
        <p:spPr>
          <a:xfrm xmlns:a="http://schemas.openxmlformats.org/drawingml/2006/main">
            <a:off x="6308100" y="2667000"/>
            <a:ext cx="1480800" cy="3219450"/>
          </a:xfrm>
          <a:prstGeom xmlns:a="http://schemas.openxmlformats.org/drawingml/2006/main" prst="roundRect">
            <a:avLst>
              <a:gd name="adj" fmla="val 10256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EBC386-893E-423B-9D89-115D27F6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019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B1C1B"/>
                </a:solidFill>
              </a:defRPr>
            </a:pPr>
            <a:r>
              <a:rPr sz="1125" b="1">
                <a:solidFill>
                  <a:srgbClr val="1B1C1B"/>
                </a:solidFill>
              </a:rPr>
              <a:t>Intent split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0c683016644cf"/>
          <a:stretch xmlns:a="http://schemas.openxmlformats.org/drawingml/2006/main"/>
        </p:blipFill>
        <p:spPr>
          <a:xfrm xmlns:a="http://schemas.openxmlformats.org/drawingml/2006/main">
            <a:off x="9013200" y="2667000"/>
            <a:ext cx="1480800" cy="3219450"/>
          </a:xfrm>
          <a:prstGeom xmlns:a="http://schemas.openxmlformats.org/drawingml/2006/main" prst="roundRect">
            <a:avLst>
              <a:gd name="adj" fmla="val 1025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1089A4-037A-402E-8608-C8A5E22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6019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6C48"/>
                </a:solidFill>
              </a:defRPr>
            </a:pPr>
            <a:r>
              <a:rPr sz="1125" b="1">
                <a:solidFill>
                  <a:srgbClr val="006C48"/>
                </a:solidFill>
              </a:rPr>
              <a:t>Discover range opens Home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B079B-4DFE-4DEC-9CD8-1DEC198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24100"/>
            <a:ext cx="66675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FAE458-5FC7-4370-A3C6-87883B5D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38400"/>
            <a:ext cx="6019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4003A"/>
                </a:solidFill>
              </a:defRPr>
            </a:pPr>
            <a:r>
              <a:rPr sz="1200" b="1">
                <a:solidFill>
                  <a:srgbClr val="E4003A"/>
                </a:solidFill>
              </a:rPr>
              <a:t>Current issue: notification pressure still comes before the user chooses shopping or eRx.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0664F-86DF-4309-AEAB-50F51011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5BE24-6995-4E20-8816-63796274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699889844"/>
      </p:ext>
    </p:extLst>
  </p:cSld>
  <p:transition spd="med">
    <p:push dir="l"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7FA093-962D-42FF-A09A-76B35AD6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LOGGED-IN PATH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FB948-929E-415A-8310-1106261C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Returning users meet two prompts before their first useful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94913-16D1-4687-81D1-8BE6116D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For logged-in users, RedPoints may be relevant, but it appears before the user has chosen a purchase or prescription task.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cdb0a494634627"/>
          <a:stretch xmlns:a="http://schemas.openxmlformats.org/drawingml/2006/main"/>
        </p:blipFill>
        <p:spPr>
          <a:xfrm xmlns:a="http://schemas.openxmlformats.org/drawingml/2006/main">
            <a:off x="1012974" y="2457450"/>
            <a:ext cx="1717377" cy="3733800"/>
          </a:xfrm>
          <a:prstGeom xmlns:a="http://schemas.openxmlformats.org/drawingml/2006/main" prst="roundRect">
            <a:avLst>
              <a:gd name="adj" fmla="val 8840"/>
            </a:avLst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4c06ab02841ab"/>
          <a:stretch xmlns:a="http://schemas.openxmlformats.org/drawingml/2006/main"/>
        </p:blipFill>
        <p:spPr>
          <a:xfrm xmlns:a="http://schemas.openxmlformats.org/drawingml/2006/main">
            <a:off x="3375174" y="2457450"/>
            <a:ext cx="1717377" cy="3733800"/>
          </a:xfrm>
          <a:prstGeom xmlns:a="http://schemas.openxmlformats.org/drawingml/2006/main" prst="roundRect">
            <a:avLst>
              <a:gd name="adj" fmla="val 8840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9abdade5a45c5"/>
          <a:stretch xmlns:a="http://schemas.openxmlformats.org/drawingml/2006/main"/>
        </p:blipFill>
        <p:spPr>
          <a:xfrm xmlns:a="http://schemas.openxmlformats.org/drawingml/2006/main">
            <a:off x="5737374" y="2457450"/>
            <a:ext cx="1717377" cy="3733800"/>
          </a:xfrm>
          <a:prstGeom xmlns:a="http://schemas.openxmlformats.org/drawingml/2006/main" prst="roundRect">
            <a:avLst>
              <a:gd name="adj" fmla="val 8840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ff6be51474bbc"/>
          <a:stretch xmlns:a="http://schemas.openxmlformats.org/drawingml/2006/main"/>
        </p:blipFill>
        <p:spPr>
          <a:xfrm xmlns:a="http://schemas.openxmlformats.org/drawingml/2006/main">
            <a:off x="8099574" y="2457450"/>
            <a:ext cx="1717377" cy="3733800"/>
          </a:xfrm>
          <a:prstGeom xmlns:a="http://schemas.openxmlformats.org/drawingml/2006/main" prst="roundRect">
            <a:avLst>
              <a:gd name="adj" fmla="val 884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8BF72-A9D5-4EB5-8A1A-88D28ED1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53100"/>
            <a:ext cx="98869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517A3-EDB5-4CD8-A651-6DAF1611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05500"/>
            <a:ext cx="9372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4003A"/>
                </a:solidFill>
              </a:defRPr>
            </a:pPr>
            <a:r>
              <a:rPr sz="1350" b="1">
                <a:solidFill>
                  <a:srgbClr val="E4003A"/>
                </a:solidFill>
              </a:rPr>
              <a:t>Recommendation: let returning users continue their job first. Move RedPoints to cart or account value, and move push to prescription or order-update moments.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FC83C-EFF7-4E89-A9C8-F0DA0276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3473D6-24DE-4EDB-A6E2-18697302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1401327045"/>
      </p:ext>
    </p:extLst>
  </p:cSld>
  <p:transition spd="med">
    <p:push dir="l"/>
  </p:transition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46C64C-4FAC-4176-92B9-F78EB29A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VARIANT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5976C-FC67-4E21-9E22-CCA8C743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live flow confirms that Variant B was the better strategic 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EBA17-0A6D-452B-8236-07464296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new screenshots already resemble B: webshop and eRx are separated. The remaining issue is that opt-ins still come before intent.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958F4-CD30-4F9D-BD13-7381A499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FBEBB-37A7-4744-823D-3C1AEA36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289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1C1B"/>
                </a:solidFill>
              </a:defRPr>
            </a:pPr>
            <a:r>
              <a:rPr sz="1950" b="1">
                <a:solidFill>
                  <a:srgbClr val="1B1C1B"/>
                </a:solidFill>
              </a:rPr>
              <a:t>Variant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990C4-D236-4811-BF04-EB2AB05C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052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4003A"/>
                </a:solidFill>
              </a:defRPr>
            </a:pPr>
            <a:r>
              <a:rPr sz="1725" b="1">
                <a:solidFill>
                  <a:srgbClr val="E4003A"/>
                </a:solidFill>
              </a:rPr>
              <a:t>"Opt-ins look much more optional and not so pushy."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8369D-30D9-480C-9AB3-6B185DD7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6245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Keep: softer permission language and visible choice. Change: do not put RedPoints or push in front of a user who has not selected a job.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C355F-4661-4193-BC81-B7209DAF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432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57C95-2427-48E3-A5C3-EEFCA0A8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B1C1B"/>
                </a:solidFill>
              </a:defRPr>
            </a:pPr>
            <a:r>
              <a:rPr sz="1950" b="1">
                <a:solidFill>
                  <a:srgbClr val="1B1C1B"/>
                </a:solidFill>
              </a:rPr>
              <a:t>Variant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6C4AF-5144-4D07-9ED6-15561DA8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0520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4003A"/>
                </a:solidFill>
              </a:defRPr>
            </a:pPr>
            <a:r>
              <a:rPr sz="1725" b="1">
                <a:solidFill>
                  <a:srgbClr val="E4003A"/>
                </a:solidFill>
              </a:rPr>
              <a:t>"Split the webshop and eRx journey ... to have a more distraction free experience."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C920C-1E1B-4C0A-9367-B0499650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57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Keep: the intent split. Improve: place it earlier and add more specific eRx and shopping value cues.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D6D4A-739C-4B41-AAFF-62F69F56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62600"/>
            <a:ext cx="79248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77D819-D888-4F2B-8E9D-C1F4D82F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734050"/>
            <a:ext cx="7277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6C48"/>
                </a:solidFill>
              </a:defRPr>
            </a:pPr>
            <a:r>
              <a:rPr sz="1500" b="1">
                <a:solidFill>
                  <a:srgbClr val="006C48"/>
                </a:solidFill>
              </a:rPr>
              <a:t>Design choice: use B for structure, A for tone, and move prompts to proof moments.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B370C-4E82-4921-92D6-18677B3F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F9FCC-FA43-4EBD-9D34-09EB6D6F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2019379715"/>
      </p:ext>
    </p:extLst>
  </p:cSld>
  <p:transition spd="med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B0E254-05DF-4519-987D-C9C37034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RECOMMENDED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C7EB0-3D73-4B42-9276-AE5E4D19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Make intent the second decision, then branch the 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03E10-4CAB-4A78-A07E-1AF64878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Consent remains first for legal clarity. The next screen should ask what the user came to do, then delay account, loyalty, and push until the benefit is concrete.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379F4-496C-4DD0-8A36-652C258E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095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E31E8-9CEE-4CF7-8F0B-A8762417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B1C1B"/>
                </a:solidFill>
              </a:defRPr>
            </a:pPr>
            <a:r>
              <a:rPr sz="1500" b="1">
                <a:solidFill>
                  <a:srgbClr val="1B1C1B"/>
                </a:solidFill>
              </a:rPr>
              <a:t>1. Consent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CB729-3D47-495D-A740-845A0EED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Legal and personalization choice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9E8CD2-B9D6-4E9E-BB36-78E764E9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3C06A1-DF66-4A93-B672-C7AF8699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575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2. Intent split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45B8F-6E0C-4EAA-BACA-C08AE30B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4325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eRx or shopping before prompts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A041F-A58C-4FF5-B043-F43AC75D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D5CBA-CB09-4CD4-9C87-E90D5000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B1C1B"/>
                </a:solidFill>
              </a:defRPr>
            </a:pPr>
            <a:r>
              <a:rPr sz="1500" b="1">
                <a:solidFill>
                  <a:srgbClr val="1B1C1B"/>
                </a:solidFill>
              </a:rPr>
              <a:t>eRx branch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9FA54-D73C-46BF-AEA4-B7641803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1485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Explain card requirements and 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F7C6C9-0A45-4027-ADBD-087668B9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9575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AB64C-AEA2-4CBB-9DD0-61FCF380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2291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B1C1B"/>
                </a:solidFill>
              </a:defRPr>
            </a:pPr>
            <a:r>
              <a:rPr sz="1500" b="1">
                <a:solidFill>
                  <a:srgbClr val="1B1C1B"/>
                </a:solidFill>
              </a:rPr>
              <a:t>Account only when needed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2B7DCA-7F3E-441C-9343-BF447519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51485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Login or register for card setup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B50A2-46F7-421A-B370-B1408E62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9575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91D78-8F42-4EA8-954E-2A0A45D0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291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C48"/>
                </a:solidFill>
              </a:defRPr>
            </a:pPr>
            <a:r>
              <a:rPr sz="1500" b="1">
                <a:solidFill>
                  <a:srgbClr val="006C48"/>
                </a:solidFill>
              </a:rPr>
              <a:t>Prescription updates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97704-9B9E-4F4D-AFD7-6CA046E5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1485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Push ask after eRx value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59C10-4C11-4B3F-8A15-0A4FFE9D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958EC8-92BA-40E6-8ABF-171CB92D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B1C1B"/>
                </a:solidFill>
              </a:defRPr>
            </a:pPr>
            <a:r>
              <a:rPr sz="1500" b="1">
                <a:solidFill>
                  <a:srgbClr val="1B1C1B"/>
                </a:solidFill>
              </a:rPr>
              <a:t>Shop branch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B38063-CA3D-44C0-8BD1-FD282301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531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Search, categories, coupon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F2CB8-D69A-4158-A537-B71B7D35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33400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5E5F09-61DE-4414-992B-507F8641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B1C1B"/>
                </a:solidFill>
              </a:defRPr>
            </a:pPr>
            <a:r>
              <a:rPr sz="1500" b="1">
                <a:solidFill>
                  <a:srgbClr val="1B1C1B"/>
                </a:solidFill>
              </a:rPr>
              <a:t>PDP and cart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16A6F5-F1B9-491F-90FF-2DAE0F61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531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5E5C"/>
                </a:solidFill>
              </a:defRPr>
            </a:pPr>
            <a:r>
              <a:rPr sz="1200">
                <a:solidFill>
                  <a:srgbClr val="645E5C"/>
                </a:solidFill>
              </a:rPr>
              <a:t>Discount and points become real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25DE4E-D907-4BB7-8B18-1EB7CCC7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34000"/>
            <a:ext cx="2381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F6BCF3-A120-4001-B374-3301E153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46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C48"/>
                </a:solidFill>
              </a:defRPr>
            </a:pPr>
            <a:r>
              <a:rPr sz="1500" b="1">
                <a:solidFill>
                  <a:srgbClr val="006C48"/>
                </a:solidFill>
              </a:rPr>
              <a:t>Order or cart ask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9AD17-FA99-4F52-B98C-EB28B658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7531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RedPoints and push in context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E197C7-F781-46C9-80D1-E947855A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05150"/>
            <a:ext cx="2381250" cy="2152650"/>
          </a:xfrm>
          <a:prstGeom xmlns:a="http://schemas.openxmlformats.org/drawingml/2006/main" prst="roundRect">
            <a:avLst>
              <a:gd name="adj" fmla="val 53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1677F9-B322-4C8B-9275-491A3260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390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4003A"/>
                </a:solidFill>
              </a:defRPr>
            </a:pPr>
            <a:r>
              <a:rPr sz="1800" b="1">
                <a:solidFill>
                  <a:srgbClr val="E4003A"/>
                </a:solidFill>
              </a:rPr>
              <a:t>Why this choice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85610C-9ABC-44E7-A926-1B646F7C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C58B7D-252E-42FE-82A2-57CE3D08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58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Targets the ~19.5% Identification loss.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5D50CE-0B82-46B0-8730-573AC633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14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7A1CB1-BA0D-428B-A899-F8A60758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577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Protects the 61% purchase chance after cart visit.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68DE10-503D-4496-836A-C28B7CB4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124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749AC2-3DBF-40C8-99F0-57B50366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67300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Gives push a stronger reason than coupons alone.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924A90-362A-445A-B3D7-DE7EC343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9A8B42-5E72-4E34-AC52-4D3F7FB0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966420668"/>
      </p:ext>
    </p:extLst>
  </p:cSld>
  <p:transition spd="med">
    <p:fade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EA1C27-57B1-4D20-8E44-DCDFB85F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SCREEN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E955E-7B0A-433C-84B6-18E6692C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Keep consent compact and do not reintroduce country or language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EC515-EFB2-4291-8B96-33A54DD4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current consent screen already avoids a separate country/language selection step, which matches the source opportunity of a potential 4% lift from removing that setup.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f96de0b5945ed"/>
          <a:stretch xmlns:a="http://schemas.openxmlformats.org/drawingml/2006/main"/>
        </p:blipFill>
        <p:spPr>
          <a:xfrm xmlns:a="http://schemas.openxmlformats.org/drawingml/2006/main">
            <a:off x="1010674" y="3009900"/>
            <a:ext cx="1445751" cy="3143250"/>
          </a:xfrm>
          <a:prstGeom xmlns:a="http://schemas.openxmlformats.org/drawingml/2006/main" prst="roundRect">
            <a:avLst>
              <a:gd name="adj" fmla="val 1052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77D2C-2F82-4487-B072-AFD7E57C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59055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9609E-1E7F-4CA8-ABEC-4D2157B2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409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6C48"/>
                </a:solidFill>
              </a:defRPr>
            </a:pPr>
            <a:r>
              <a:rPr sz="1875" b="1">
                <a:solidFill>
                  <a:srgbClr val="006C48"/>
                </a:solidFill>
              </a:rPr>
              <a:t>What to keep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7F642-4D24-4E30-A360-616ED5AF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0C834-4AFA-424B-BE2D-86046873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86200"/>
            <a:ext cx="474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Single consent surface with Germany / English visible.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D48127-42AA-4F09-B8BA-5A4E8B60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14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36D49-C412-4A4C-AECD-2242547C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43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Clear primary action and legal secondary actions.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F3D18-364F-4A0C-BDF2-5AEBA5A4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010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What to improve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07D13-25F2-43A2-8E81-17AE3060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543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4F67A2-C1AC-4C25-BAFC-71EC42C7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486400"/>
            <a:ext cx="4743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After consent, go to intent before push or loyalty prompts.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9E6634-9CB6-4677-8075-FAC5B102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0EAC94-237A-493C-9C0D-5153BC90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1534803627"/>
      </p:ext>
    </p:extLst>
  </p:cSld>
  <p:transition spd="med">
    <p:push dir="l"/>
  </p:transition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984F0D-F368-4AC1-B95D-9311C8E6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SCREEN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37695-920D-49EF-A2A5-62A7E36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Login should be a branch requirement, not the first answer to every job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0AC46-E6F7-43F9-8ACB-F641152E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login sheet works, but for mobile returning customers the code path can be more prominent and the screen should appear only when the selected job needs identity.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6ea10de7843cd"/>
          <a:stretch xmlns:a="http://schemas.openxmlformats.org/drawingml/2006/main"/>
        </p:blipFill>
        <p:spPr>
          <a:xfrm xmlns:a="http://schemas.openxmlformats.org/drawingml/2006/main">
            <a:off x="880779" y="2305050"/>
            <a:ext cx="1962717" cy="4267200"/>
          </a:xfrm>
          <a:prstGeom xmlns:a="http://schemas.openxmlformats.org/drawingml/2006/main" prst="roundRect">
            <a:avLst>
              <a:gd name="adj" fmla="val 772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D04EF-9E8E-490F-ABA2-3926CE55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86050"/>
            <a:ext cx="59055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D8CC3-F8B8-4748-B339-30AD2E07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Recommended changes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B2B33-6D25-4942-9E4F-75EEA853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14FB6-7B31-4998-8DE9-CA940C98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543300"/>
            <a:ext cx="4705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Show login after a user chooses eRx, account, checkout, or saved benefits.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AA875-2FF9-4466-9981-E07BE243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10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CA1812-D42C-4011-836E-EF18E47E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52900"/>
            <a:ext cx="4705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Make login code the mobile-friendly default for uncertain returners.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2C3F2-6B88-4107-BC26-7C50DAE4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19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1B880-5E88-4614-9F5D-5ADA08F7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62500"/>
            <a:ext cx="4705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Keep password, reset, and create-account visible, but secondary.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7E070-1D46-4A2A-B3AF-818E4A47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695950"/>
            <a:ext cx="59055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2C95F-5A0D-424F-8676-D70F0BFA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829300"/>
            <a:ext cx="541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C48"/>
                </a:solidFill>
              </a:defRPr>
            </a:pPr>
            <a:r>
              <a:rPr sz="1350" b="1">
                <a:solidFill>
                  <a:srgbClr val="006C48"/>
                </a:solidFill>
              </a:rPr>
              <a:t>Expected effect: less Identification loss without weakening secure account flows.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990F3-89CC-4C9B-BE3C-80FE23B3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AF81C0-C664-4A4E-8B26-2E6AB972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1235006671"/>
      </p:ext>
    </p:extLst>
  </p:cSld>
  <p:transition spd="med">
    <p:push dir="l"/>
  </p:transition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7D640F-0833-43BA-BAF1-CD08E32E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SCREEN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29C6EB-3C17-41EE-AC78-1B3FEA8F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Push needs a reason stronger than general promotions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19D46-8F84-4945-9B41-388EF798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source shows 6.5% onboarding push opt-in versus a roughly 20% benchmark. The prompt should appear after value is visible, not before intent.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bd71ae15744d9"/>
          <a:stretch xmlns:a="http://schemas.openxmlformats.org/drawingml/2006/main"/>
        </p:blipFill>
        <p:spPr>
          <a:xfrm xmlns:a="http://schemas.openxmlformats.org/drawingml/2006/main">
            <a:off x="781530" y="2286000"/>
            <a:ext cx="1980241" cy="4305300"/>
          </a:xfrm>
          <a:prstGeom xmlns:a="http://schemas.openxmlformats.org/drawingml/2006/main" prst="roundRect">
            <a:avLst>
              <a:gd name="adj" fmla="val 769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D703C-2316-46B5-A533-0F47465B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05100"/>
            <a:ext cx="2857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2EDFA0-F327-4B6D-8D2D-B2B950C8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09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Current ask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87326-CBBA-4C64-B263-17CE0C1F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24250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Coupons and promotions before users have chosen eRx or shopping. It asks for retention before Redcare has shown personal relevance.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BD4E3-5F0E-46B8-95AA-10EF57CE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05100"/>
            <a:ext cx="2857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F1502-9E96-4C0C-9713-14C1BC2F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09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6C48"/>
                </a:solidFill>
              </a:defRPr>
            </a:pPr>
            <a:r>
              <a:rPr sz="1875" b="1">
                <a:solidFill>
                  <a:srgbClr val="006C48"/>
                </a:solidFill>
              </a:rPr>
              <a:t>Better 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BCBCD-F669-4934-94C1-BF2E468D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24250"/>
            <a:ext cx="2209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6C48"/>
                </a:solidFill>
              </a:defRPr>
            </a:pPr>
            <a:r>
              <a:rPr sz="1350">
                <a:solidFill>
                  <a:srgbClr val="006C48"/>
                </a:solidFill>
              </a:rPr>
              <a:t>Prescription updates after card setup, delivery updates after order, or coupon alerts after the user saves or browses a deal.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A0334B-5757-443F-9AA4-4C1277A4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219700"/>
            <a:ext cx="60198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1BF12-0F24-4AAF-B8C7-E966163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39115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B1C1B"/>
                </a:solidFill>
              </a:defRPr>
            </a:pPr>
            <a:r>
              <a:rPr sz="1425" b="1">
                <a:solidFill>
                  <a:srgbClr val="1B1C1B"/>
                </a:solidFill>
              </a:rPr>
              <a:t>Test copy examples: "Get prescription status updates" and "Tell me when my saved products are discounted."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D286C6-805E-47D4-93A7-B1C7F65F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73221-0180-4E97-9D17-3675B3E9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844077632"/>
      </p:ext>
    </p:extLst>
  </p:cSld>
  <p:transition spd="med">
    <p:push dir="l"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FD0524-C0AE-45E2-AA5D-3C0FEA09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SCREEN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0FF87-8C7B-40D3-84BF-9BAD280F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RedPoints should be attached to a real basket or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C63FE-C514-4ACA-8D6F-0A56BE8F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full-screen loyalty prompt is understandable for logged-in users, but the source guardrail is checkout conversion. Cart is where the value is easiest to prove.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2bc8e08ae44b3"/>
          <a:stretch xmlns:a="http://schemas.openxmlformats.org/drawingml/2006/main"/>
        </p:blipFill>
        <p:spPr>
          <a:xfrm xmlns:a="http://schemas.openxmlformats.org/drawingml/2006/main">
            <a:off x="839442" y="2266950"/>
            <a:ext cx="1997765" cy="4343400"/>
          </a:xfrm>
          <a:prstGeom xmlns:a="http://schemas.openxmlformats.org/drawingml/2006/main" prst="roundRect">
            <a:avLst>
              <a:gd name="adj" fmla="val 761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51E63-0381-4E8C-B104-9CFF6E15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601980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4D7D6-7049-4070-A547-216104E7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067050"/>
            <a:ext cx="2095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55DEF-18F8-4DB0-8867-AE35161B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00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C48"/>
                </a:solidFill>
              </a:defRPr>
            </a:pPr>
            <a:r>
              <a:rPr sz="2250" b="1">
                <a:solidFill>
                  <a:srgbClr val="006C48"/>
                </a:solidFill>
              </a:rPr>
              <a:t>61%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4BD4A-6CC0-43C2-B454-6EF64FD4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81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purchase chance after cart visit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90C41-9112-431E-A484-318E1B88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067050"/>
            <a:ext cx="2095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9E5FA-0331-484F-8233-B6E13C2D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00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C48"/>
                </a:solidFill>
              </a:defRPr>
            </a:pPr>
            <a:r>
              <a:rPr sz="2250" b="1">
                <a:solidFill>
                  <a:srgbClr val="006C48"/>
                </a:solidFill>
              </a:rPr>
              <a:t>17.1%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926D5-D4A4-4335-821F-61E2BE45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81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logged-in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AC3789-0A78-43CE-92FA-2B14FB0C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481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Recommended placement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65E270-9C5C-4C9A-B832-1BE6ECD3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067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5A2C00-1E80-47BA-AE22-DE74B9F4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474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Inline cart module: "This order earns X RedPoints. Join free."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D78DB-FB73-426A-8A11-F0EDE852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676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A7A61-1475-4109-BCF1-7755F62D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619750"/>
            <a:ext cx="474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Account/home card only after the user has a purchase or reorder reason.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1B1A7-1644-49E8-9725-0838151D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6F98CB-A9BE-4A69-A4C6-DF28A436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1101679732"/>
      </p:ext>
    </p:extLst>
  </p:cSld>
  <p:transition spd="med">
    <p:push dir="l"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DD23FE-D1FE-4E22-BFC5-0924A6A2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SCREEN 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90AB4-81A0-4CC8-9B5A-2B5C505D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intent split is the keeper. Give it sharper value cues.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D81B1-B35F-4276-93A1-3557CEA3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This is the strongest current screen. It matches Variant B's logic, but it should appear before push and RedPoints and carry more decision context.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36875c678545af"/>
          <a:stretch xmlns:a="http://schemas.openxmlformats.org/drawingml/2006/main"/>
        </p:blipFill>
        <p:spPr>
          <a:xfrm xmlns:a="http://schemas.openxmlformats.org/drawingml/2006/main">
            <a:off x="1070113" y="3028950"/>
            <a:ext cx="1498324" cy="3257550"/>
          </a:xfrm>
          <a:prstGeom xmlns:a="http://schemas.openxmlformats.org/drawingml/2006/main" prst="roundRect">
            <a:avLst>
              <a:gd name="adj" fmla="val 10127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9A2CC-0E6C-4161-BD4D-17439677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28950"/>
            <a:ext cx="5810250" cy="24574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EE71C-06CE-4464-9BF3-13ACE073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33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Copy direction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7FECE-D978-47E0-A0FC-7BB6A090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86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6D820-A06C-40D2-8ECA-90C37B8E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29050"/>
            <a:ext cx="4743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Change "View e-prescription" to "Redeem e-prescription with your health card."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52F3C8-00F0-42FB-8065-3795CC5F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91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89F81-7232-4B34-8430-3D849AC6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33900"/>
            <a:ext cx="474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Change "Discover range" to "Shop products and discounts."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29C52-6217-4C6E-BBF5-FDB9707E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200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6D25E-5F40-44C9-B6AB-3E96D87D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143500"/>
            <a:ext cx="474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Add microcopy: German health card required for eRx; no account required to browse.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C640E-808D-49E6-A6FD-7F187919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772150"/>
            <a:ext cx="5810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BCF51-2760-4570-948B-44D3EBD6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886450"/>
            <a:ext cx="525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C48"/>
                </a:solidFill>
              </a:defRPr>
            </a:pPr>
            <a:r>
              <a:rPr sz="1350" b="1">
                <a:solidFill>
                  <a:srgbClr val="006C48"/>
                </a:solidFill>
              </a:rPr>
              <a:t>Expected effect: more qualified branch starts and cleaner analysis by user job.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62AE0-A555-4E45-B14D-751399F9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4380AB-7692-4134-94AE-19FF1FE0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385865162"/>
      </p:ext>
    </p:extLst>
  </p:cSld>
  <p:transition spd="med">
    <p:push dir="l"/>
  </p:transition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B21F02-9C49-4BBD-8BF9-693C37F7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GUEST SHOP BRANCH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6C796-9817-401E-A4A6-1FF1FBC1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After Discover range, the home screen should behave like a 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C2C29-29D5-44C7-8016-00AF7A6C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real Home capture shows a strong eRx discount area, recommendations, visible Debug text, and mixed German/English content.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b11138c514ba8"/>
          <a:stretch xmlns:a="http://schemas.openxmlformats.org/drawingml/2006/main"/>
        </p:blipFill>
        <p:spPr>
          <a:xfrm xmlns:a="http://schemas.openxmlformats.org/drawingml/2006/main">
            <a:off x="878294" y="2381250"/>
            <a:ext cx="1796236" cy="3905250"/>
          </a:xfrm>
          <a:prstGeom xmlns:a="http://schemas.openxmlformats.org/drawingml/2006/main" prst="roundRect">
            <a:avLst>
              <a:gd name="adj" fmla="val 846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25954-8BA4-441D-AD90-D6DBC057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14650"/>
            <a:ext cx="33337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3FEE3-4942-48A9-99A1-FF9D29E2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2194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Current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0694D-08B1-42FE-BB0F-2F3B558C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90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082F8-CA24-4920-A6FC-D84367F6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733800"/>
            <a:ext cx="236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B1C1B"/>
                </a:solidFill>
              </a:defRPr>
            </a:pPr>
            <a:r>
              <a:rPr sz="1275">
                <a:solidFill>
                  <a:srgbClr val="1B1C1B"/>
                </a:solidFill>
              </a:rPr>
              <a:t>Shopping intent lands on an eRx-first hero.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F7801-FF21-4581-93AD-2ACF8D2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2440A-1DCC-4A4F-BD18-A389C2C4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305300"/>
            <a:ext cx="236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B1C1B"/>
                </a:solidFill>
              </a:defRPr>
            </a:pPr>
            <a:r>
              <a:rPr sz="1275">
                <a:solidFill>
                  <a:srgbClr val="1B1C1B"/>
                </a:solidFill>
              </a:rPr>
              <a:t>Debug and mixed German/English content damage trust.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31307-1B98-42EE-BED0-57BD6C74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972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75DFF-B688-4AFB-A0FE-EC439FB8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14900"/>
            <a:ext cx="236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B1C1B"/>
                </a:solidFill>
              </a:defRPr>
            </a:pPr>
            <a:r>
              <a:rPr sz="1275">
                <a:solidFill>
                  <a:srgbClr val="1B1C1B"/>
                </a:solidFill>
              </a:rPr>
              <a:t>2.6% guest conversion makes product value urgent.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570AC-557E-4B4F-A7A9-01A4E481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14650"/>
            <a:ext cx="37147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02AB4C-A66D-4B8F-B76F-F0177993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19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6C48"/>
                </a:solidFill>
              </a:defRPr>
            </a:pPr>
            <a:r>
              <a:rPr sz="1875" b="1">
                <a:solidFill>
                  <a:srgbClr val="006C48"/>
                </a:solidFill>
              </a:rPr>
              <a:t>Recommended home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C606CE-19AE-443D-B185-9AF3303B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790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80A1C-4BDD-49FF-8AFE-E8D582F4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33800"/>
            <a:ext cx="2686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6C48"/>
                </a:solidFill>
              </a:defRPr>
            </a:pPr>
            <a:r>
              <a:rPr sz="1275">
                <a:solidFill>
                  <a:srgbClr val="006C48"/>
                </a:solidFill>
              </a:rPr>
              <a:t>Search and category shortcuts first.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D7BD8B-0F7B-4352-BA12-7B0159B9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62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F080AB-BE84-477D-9CC8-4C40D67D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05300"/>
            <a:ext cx="2686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6C48"/>
                </a:solidFill>
              </a:defRPr>
            </a:pPr>
            <a:r>
              <a:rPr sz="1275">
                <a:solidFill>
                  <a:srgbClr val="006C48"/>
                </a:solidFill>
              </a:rPr>
              <a:t>One first-order discount or monthly coupon CTA.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9A7FD6-7449-42CC-8BF4-39871328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72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ADAFA2-A618-4B9E-9FBE-8ED0D7B0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14900"/>
            <a:ext cx="2686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6C48"/>
                </a:solidFill>
              </a:defRPr>
            </a:pPr>
            <a:r>
              <a:rPr sz="1275">
                <a:solidFill>
                  <a:srgbClr val="006C48"/>
                </a:solidFill>
              </a:rPr>
              <a:t>Keep eRx visible, but secondary to the chosen shopping job.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1369E-FE8F-4EF9-BA0C-37229E11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772150"/>
            <a:ext cx="75057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10506C-CAE3-4BB5-97B4-21846805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886450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C48"/>
                </a:solidFill>
              </a:defRPr>
            </a:pPr>
            <a:r>
              <a:rPr sz="1350" b="1">
                <a:solidFill>
                  <a:srgbClr val="006C48"/>
                </a:solidFill>
              </a:rPr>
              <a:t>Design target: make the first guest Home view answer "what can I buy or save on right now?"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1DFE7A-0F11-42DC-A41A-C6CE8B7B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B380F6-0686-4E0C-8E47-F0DCE807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908790210"/>
      </p:ext>
    </p:extLst>
  </p:cSld>
  <p:transition spd="med">
    <p:fade/>
  </p:transition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FC3415-FFAF-4C7C-98B2-66091B70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ERX BRANCH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2CB3E-2753-4669-AF95-8E74A32B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health-card setup screen is strong, but it should carry more reassurance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94B4D4-8622-4E58-B03F-27AC4C5F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missing capture shows a concrete setup modal with a real card/photo treatment, SMS confirmation, and card-number step.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86416eb3c4403"/>
          <a:stretch xmlns:a="http://schemas.openxmlformats.org/drawingml/2006/main"/>
        </p:blipFill>
        <p:spPr>
          <a:xfrm xmlns:a="http://schemas.openxmlformats.org/drawingml/2006/main">
            <a:off x="745522" y="2266950"/>
            <a:ext cx="1918906" cy="4171950"/>
          </a:xfrm>
          <a:prstGeom xmlns:a="http://schemas.openxmlformats.org/drawingml/2006/main" prst="roundRect">
            <a:avLst>
              <a:gd name="adj" fmla="val 792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7FBCA-5BAB-415F-BD49-084548CB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194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E543EC-34F2-4D76-B450-AF994E3F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05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6C48"/>
                </a:solidFill>
              </a:defRPr>
            </a:pPr>
            <a:r>
              <a:rPr sz="1875" b="1">
                <a:solidFill>
                  <a:srgbClr val="006C48"/>
                </a:solidFill>
              </a:rPr>
              <a:t>What 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4E025-5A87-4BE5-9328-9AE6229D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95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146103-C0DD-4665-9835-C324DAF5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385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Photo-based card guidance is clear.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325FC-1B2E-4F4E-890D-B8B04E2F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C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5B86A-BF03-4176-8209-018CF9A5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291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6C48"/>
                </a:solidFill>
              </a:defRPr>
            </a:pPr>
            <a:r>
              <a:rPr sz="1200">
                <a:solidFill>
                  <a:srgbClr val="006C48"/>
                </a:solidFill>
              </a:rPr>
              <a:t>The steps make the process less abstract.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8660A-0739-4930-A54C-89458FB9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194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F0F357-7765-4463-AAF7-7A016A20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E4003A"/>
                </a:solidFill>
              </a:defRPr>
            </a:pPr>
            <a:r>
              <a:rPr sz="1875" b="1">
                <a:solidFill>
                  <a:srgbClr val="E4003A"/>
                </a:solidFill>
              </a:rPr>
              <a:t>Missing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EF48A8-AD7E-453C-BA83-4798609F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95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014EE-D7AF-4DC4-AEFD-22EB91D1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B1C1B"/>
                </a:solidFill>
              </a:defRPr>
            </a:pPr>
            <a:r>
              <a:rPr sz="1200">
                <a:solidFill>
                  <a:srgbClr val="1B1C1B"/>
                </a:solidFill>
              </a:rPr>
              <a:t>German health insurance card only.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2F734-3391-4253-BF85-B1911645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0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F0537-D981-4597-A5A8-896F0977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29100"/>
            <a:ext cx="1504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B1C1B"/>
                </a:solidFill>
              </a:defRPr>
            </a:pPr>
            <a:r>
              <a:rPr sz="1200">
                <a:solidFill>
                  <a:srgbClr val="1B1C1B"/>
                </a:solidFill>
              </a:rPr>
              <a:t>Time, privacy, and NFC expectations before the CTA.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8DE249-651E-42AF-BC27-7C64EC5F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19400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A59819-B94B-412D-B104-1444FD7A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05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6C48"/>
                </a:solidFill>
              </a:defRPr>
            </a:pPr>
            <a:r>
              <a:rPr sz="1800" b="1">
                <a:solidFill>
                  <a:srgbClr val="006C48"/>
                </a:solidFill>
              </a:rPr>
              <a:t>Copy to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B7D4EF-454C-4543-8E91-6F56E4C6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6C48"/>
                </a:solidFill>
              </a:defRPr>
            </a:pPr>
            <a:r>
              <a:rPr sz="1275">
                <a:solidFill>
                  <a:srgbClr val="006C48"/>
                </a:solidFill>
              </a:rPr>
              <a:t>Start with your German health insurance card. Takes about 2 minutes. We use the card only to securely retrieve e-prescriptions.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54E3BA-7579-42CE-9026-CB258BD9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77914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DE05C1-A106-4ABA-9EF3-444C3B36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753100"/>
            <a:ext cx="7181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C48"/>
                </a:solidFill>
              </a:defRPr>
            </a:pPr>
            <a:r>
              <a:rPr sz="1350" b="1">
                <a:solidFill>
                  <a:srgbClr val="006C48"/>
                </a:solidFill>
              </a:rPr>
              <a:t>Then ask for prescription status notifications only after the card is connected.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B9B4FC-FF2C-45BA-8CF5-D3316D59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2E951E-9F7A-4D8F-8F35-0A521A81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150755152"/>
      </p:ext>
    </p:extLst>
  </p:cSld>
  <p:transition spd="med">
    <p:fade/>
  </p:transition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0D4F4F-EC65-48EA-958A-75BA3835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EXPERIMENT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64ABD-F246-4CF2-B0F1-8F013203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Test sequence and timing separately so the team learns what moved the metric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90331-8D4E-4E63-8044-1FB80C2B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current production flow can be the control. The next tests should isolate intent order, prompt timing, and branch landing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05C7E-5C05-4057-AAB4-7F0BA97A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0363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0F1EB-11B2-42BA-A5C4-F33088D7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B1C1B"/>
                </a:solidFill>
              </a:defRPr>
            </a:pPr>
            <a:r>
              <a:rPr sz="1500" b="1">
                <a:solidFill>
                  <a:srgbClr val="1B1C1B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2D5E3-D2E6-4549-99D5-33EADE77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57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B1C1B"/>
                </a:solidFill>
              </a:defRPr>
            </a:pPr>
            <a:r>
              <a:rPr sz="1425" b="1">
                <a:solidFill>
                  <a:srgbClr val="1B1C1B"/>
                </a:solidFill>
              </a:rPr>
              <a:t>Current production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74694-1B4B-4128-895F-284B5BE1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8479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5E5C"/>
                </a:solidFill>
              </a:defRPr>
            </a:pPr>
            <a:r>
              <a:rPr sz="1275">
                <a:solidFill>
                  <a:srgbClr val="645E5C"/>
                </a:solidFill>
              </a:rPr>
              <a:t>Consent, auth/guest, push, RedPoints for login, intent split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D1169-64CD-4484-B311-3BF1F32B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363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23331-7985-44CA-A705-D55A3D37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Variant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64E09-59DA-4A2E-B19A-EED28253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385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B1C1B"/>
                </a:solidFill>
              </a:defRPr>
            </a:pPr>
            <a:r>
              <a:rPr sz="1425" b="1">
                <a:solidFill>
                  <a:srgbClr val="1B1C1B"/>
                </a:solidFill>
              </a:rPr>
              <a:t>Intent-first sequencing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11B03C-E361-412C-AFE1-23B431C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62902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5E5C"/>
                </a:solidFill>
              </a:defRPr>
            </a:pPr>
            <a:r>
              <a:rPr sz="1275">
                <a:solidFill>
                  <a:srgbClr val="645E5C"/>
                </a:solidFill>
              </a:rPr>
              <a:t>Consent, intent split, then authentication or guest path only when needed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9D8B66-1F7D-427B-8B61-AD93C289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363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6950C-43CA-4EE0-B0F9-3256BEC2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19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C48"/>
                </a:solidFill>
              </a:defRPr>
            </a:pPr>
            <a:r>
              <a:rPr sz="1500" b="1">
                <a:solidFill>
                  <a:srgbClr val="006C48"/>
                </a:solidFill>
              </a:rPr>
              <a:t>Variant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FDD7A-CA09-4AF2-96B3-AA71B433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19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B1C1B"/>
                </a:solidFill>
              </a:defRPr>
            </a:pPr>
            <a:r>
              <a:rPr sz="1425" b="1">
                <a:solidFill>
                  <a:srgbClr val="1B1C1B"/>
                </a:solidFill>
              </a:rPr>
              <a:t>Proof-based opt-ins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15B8C-6972-43F2-9E0B-B91BCC23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4100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5E5C"/>
                </a:solidFill>
              </a:defRPr>
            </a:pPr>
            <a:r>
              <a:rPr sz="1275">
                <a:solidFill>
                  <a:srgbClr val="645E5C"/>
                </a:solidFill>
              </a:rPr>
              <a:t>Push after eRx setup or order value; RedPoints in cart/account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C62D3-9E8B-4B3E-ADEA-0B1D2FA4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363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6B13E-FB2D-42C9-A431-01B1D2DA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006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C48"/>
                </a:solidFill>
              </a:defRPr>
            </a:pPr>
            <a:r>
              <a:rPr sz="1500" b="1">
                <a:solidFill>
                  <a:srgbClr val="006C48"/>
                </a:solidFill>
              </a:rPr>
              <a:t>Variant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EC152F-A303-4CA9-9E99-5B3C2253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00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B1C1B"/>
                </a:solidFill>
              </a:defRPr>
            </a:pPr>
            <a:r>
              <a:rPr sz="1425" b="1">
                <a:solidFill>
                  <a:srgbClr val="1B1C1B"/>
                </a:solidFill>
              </a:rPr>
              <a:t>Branch-specific landings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CEC608-BB75-40A7-9534-31BCABC1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19112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45E5C"/>
                </a:solidFill>
              </a:defRPr>
            </a:pPr>
            <a:r>
              <a:rPr sz="1275">
                <a:solidFill>
                  <a:srgbClr val="645E5C"/>
                </a:solidFill>
              </a:rPr>
              <a:t>Guest shop home focuses on search, discounts, and product modules; eRx starts with card prep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A2AA6A-9839-4E3A-945F-DDBFA157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C8E25-DCFD-442F-9449-D8768F77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640316721"/>
      </p:ext>
    </p:extLst>
  </p:cSld>
  <p:transition spd="med">
    <p:fade/>
  </p:transition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14774B-690C-48F6-9F85-5E04485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MEASUREMENT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B6280-6A71-4B2E-A60B-3E10648C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Use the read-only outcomes as guardrails, not decoration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6375A-052A-4FF8-9155-A0ED42E8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proposal should win only if it improves intent and purchase behavior without harming retention or checkout conversion.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CD784-8B38-44B9-B92B-0787A9B4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3622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F98D1-317E-4C68-8745-37707500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C1B"/>
                </a:solidFill>
              </a:defRPr>
            </a:pPr>
            <a:r>
              <a:rPr sz="1800" b="1">
                <a:solidFill>
                  <a:srgbClr val="1B1C1B"/>
                </a:solidFill>
              </a:rPr>
              <a:t>Top funnel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02E0D-ED19-490C-A105-37283C38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Home reach above 76.7%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Identification loss below ~19.5%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Intent selection rate by branch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682D7-484B-4A8A-AFD8-2FDD3DB9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57500"/>
            <a:ext cx="23622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322E65-655D-44E4-BC7C-C9091394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C1B"/>
                </a:solidFill>
              </a:defRPr>
            </a:pPr>
            <a:r>
              <a:rPr sz="1800" b="1">
                <a:solidFill>
                  <a:srgbClr val="1B1C1B"/>
                </a:solidFill>
              </a:rPr>
              <a:t>eRx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94F57-B7B8-4F46-8E5E-4645420C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57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Health-card start rate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Card connection completion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Prescription order start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4051F-513E-4269-B54A-A69DB3B1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3622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2A7A44-9C28-4457-A9DB-23BB508A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432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1C1B"/>
                </a:solidFill>
              </a:defRPr>
            </a:pPr>
            <a:r>
              <a:rPr sz="1800" b="1">
                <a:solidFill>
                  <a:srgbClr val="1B1C1B"/>
                </a:solidFill>
              </a:rPr>
              <a:t>Commerce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546F6-0796-4B34-82F4-8DEE5A53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57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PDP opens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Add-to-cart and cart visits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Guest conversion above 2.6%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FF59D-7D28-409F-B2DF-38DEC456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57500"/>
            <a:ext cx="23622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3C215-8D5A-4E25-9483-80F25755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432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4003A"/>
                </a:solidFill>
              </a:defRPr>
            </a:pPr>
            <a:r>
              <a:rPr sz="1800" b="1">
                <a:solidFill>
                  <a:srgbClr val="E4003A"/>
                </a:solidFill>
              </a:rPr>
              <a:t>Retention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EA15B5-6033-4B82-8C3D-EB9286FF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657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Push opt-in above 6.5%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Order-confirmation opt-in</a:t>
            </a:r>
          </a:p>
          <a:p xmlns:a="http://schemas.openxmlformats.org/drawingml/2006/main">
            <a:pPr>
              <a:defRPr sz="1350">
                <a:solidFill>
                  <a:srgbClr val="645E5C"/>
                </a:solidFill>
              </a:defRPr>
            </a:pPr>
            <a:r>
              <a:rPr sz="1350">
                <a:solidFill>
                  <a:srgbClr val="645E5C"/>
                </a:solidFill>
              </a:rPr>
              <a:t>Return rate not worse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E9A5C2-BDAC-48EB-B9B6-6E6E90EA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676900"/>
            <a:ext cx="89154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FF661-307A-4603-8EC0-DA73947C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29300"/>
            <a:ext cx="826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C48"/>
                </a:solidFill>
              </a:defRPr>
            </a:pPr>
            <a:r>
              <a:rPr sz="1350" b="1">
                <a:solidFill>
                  <a:srgbClr val="006C48"/>
                </a:solidFill>
              </a:rPr>
              <a:t>Primary decision: keep the change only if first useful action improves and checkout conversion stays healthy.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FA576D-2A42-40F1-A90A-CB03EF74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57C82F-EB42-4815-B7E6-F5D6254C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739865822"/>
      </p:ext>
    </p:extLst>
  </p:cSld>
  <p:transition spd="med">
    <p:fade/>
  </p:transition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3FAEC6-7F9E-4DB3-AC73-C81862A4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DESIGNER TAKEAWAYS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4B62E-F10C-49BA-8851-343309F7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app already has the right jobs. Now give them the first-session priority.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DDFCE-977F-47A2-8B14-29CC5A38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The redesign brief should focus on sequence, copy specificity, and proof-based permission timing.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e43418b39440a"/>
          <a:stretch xmlns:a="http://schemas.openxmlformats.org/drawingml/2006/main"/>
        </p:blipFill>
        <p:spPr>
          <a:xfrm xmlns:a="http://schemas.openxmlformats.org/drawingml/2006/main">
            <a:off x="7886994" y="1257300"/>
            <a:ext cx="2085386" cy="4533900"/>
          </a:xfrm>
          <a:prstGeom xmlns:a="http://schemas.openxmlformats.org/drawingml/2006/main" prst="roundRect">
            <a:avLst>
              <a:gd name="adj" fmla="val 730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70DA6-C121-4F9C-BBE6-401FD966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600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EB6DA-176B-4C02-BDDD-4109408D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D6F0A7-2346-40BE-89B9-858C1D47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956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Move eRx vs shopping before push and RedPoints.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47840-EB8F-45BD-BB08-25134559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600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B73DB-158A-469A-9ADD-A5740063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285E4-76AC-4E98-B0F8-5D434E33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480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Ask for login only when the job needs identity.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F32E2-2550-472C-88DC-67369539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600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8DA2C-440D-40FE-B2E4-09BD18CB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8E0A8-FE89-4EEF-9CA4-2A048610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005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Use guest home to create an immediate purchase reason.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C2894-6A0A-46CD-A945-E177DB68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600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6158F8-5811-4D63-A260-A7C4EC85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FE7EF-BC88-4552-B07A-21B329C1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529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Move RedPoints to cart or account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C24C12-3B0A-4738-B4C2-11F15F9C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91100"/>
            <a:ext cx="600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A41BF-9C00-45C8-A930-93F21FF0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0540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003A"/>
                </a:solidFill>
              </a:defRPr>
            </a:pPr>
            <a:r>
              <a:rPr sz="1500" b="1">
                <a:solidFill>
                  <a:srgbClr val="E4003A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1E414-237A-4E84-AE6B-E74A879D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054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B1C1B"/>
                </a:solidFill>
              </a:defRPr>
            </a:pPr>
            <a:r>
              <a:rPr sz="1350">
                <a:solidFill>
                  <a:srgbClr val="1B1C1B"/>
                </a:solidFill>
              </a:rPr>
              <a:t>Ask for push after eRx setup, order tracking, or saved-product value.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0E8741-B6A4-46F1-970C-216AB810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48350"/>
            <a:ext cx="6000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48D886-D0E1-41E3-9766-EDD61D0B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962650"/>
            <a:ext cx="5467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6C48"/>
                </a:solidFill>
              </a:defRPr>
            </a:pPr>
            <a:r>
              <a:rPr sz="1350" b="1">
                <a:solidFill>
                  <a:srgbClr val="006C48"/>
                </a:solidFill>
              </a:rPr>
              <a:t>Prototype included: branch-specific landings with contextual opt-ins.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38177-A647-4E74-BE1F-2CF7D8DD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3743BD-FBF4-4D6A-A44B-421D9870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840887366"/>
      </p:ext>
    </p:extLst>
  </p:cSld>
  <p:transition spd="med">
    <p:fade/>
  </p:transition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3ACAAD-AB71-43A0-857C-26AD041D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4003A"/>
                </a:solidFill>
              </a:defRPr>
            </a:pPr>
            <a:r>
              <a:rPr sz="975" b="1">
                <a:solidFill>
                  <a:srgbClr val="E4003A"/>
                </a:solidFill>
              </a:rPr>
              <a:t>FINAL JOURNEY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6A099-3B0F-4F16-85B0-D5FC7866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B1C1B"/>
                </a:solidFill>
              </a:defRPr>
            </a:pPr>
            <a:r>
              <a:rPr sz="3150" b="1">
                <a:solidFill>
                  <a:srgbClr val="1B1C1B"/>
                </a:solidFill>
              </a:rPr>
              <a:t>The final onboarding is a short router, then contextual 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34426-6956-4184-80ED-5E3D675C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45E5C"/>
                </a:solidFill>
              </a:defRPr>
            </a:pPr>
            <a:r>
              <a:rPr sz="1425">
                <a:solidFill>
                  <a:srgbClr val="645E5C"/>
                </a:solidFill>
              </a:rPr>
              <a:t>Onboarding only includes consent and intent. Login, RedPoints, and push move to moments where the user can understand why they matter.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7CE3A-0F71-48DE-908B-A195140A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DED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d96980e4040f6"/>
          <a:stretch xmlns:a="http://schemas.openxmlformats.org/drawingml/2006/main"/>
        </p:blipFill>
        <p:spPr>
          <a:xfrm xmlns:a="http://schemas.openxmlformats.org/drawingml/2006/main">
            <a:off x="800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855EE-423C-4A3A-AE51-892370E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4003A"/>
                </a:solidFill>
              </a:defRPr>
            </a:pPr>
            <a:r>
              <a:rPr sz="1050" b="1">
                <a:solidFill>
                  <a:srgbClr val="E4003A"/>
                </a:solidFill>
              </a:rPr>
              <a:t>Consent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0C48F-17C2-4EF2-8514-B8207658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Keep legal choice compact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d0c0df9134ac7"/>
          <a:stretch xmlns:a="http://schemas.openxmlformats.org/drawingml/2006/main"/>
        </p:blipFill>
        <p:spPr>
          <a:xfrm xmlns:a="http://schemas.openxmlformats.org/drawingml/2006/main">
            <a:off x="2324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96DF0-CA19-4B62-83C5-F28EDE6A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4003A"/>
                </a:solidFill>
              </a:defRPr>
            </a:pPr>
            <a:r>
              <a:rPr sz="1050" b="1">
                <a:solidFill>
                  <a:srgbClr val="E4003A"/>
                </a:solidFill>
              </a:rPr>
              <a:t>Intent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49948D-9BB8-4968-AE66-7148A5AF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Ask the user's job next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c46c473994b2b"/>
          <a:stretch xmlns:a="http://schemas.openxmlformats.org/drawingml/2006/main"/>
        </p:blipFill>
        <p:spPr>
          <a:xfrm xmlns:a="http://schemas.openxmlformats.org/drawingml/2006/main">
            <a:off x="3848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55806-A688-409F-8C42-04D2AA22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B1C1B"/>
                </a:solidFill>
              </a:defRPr>
            </a:pPr>
            <a:r>
              <a:rPr sz="1050" b="1">
                <a:solidFill>
                  <a:srgbClr val="1B1C1B"/>
                </a:solidFill>
              </a:rPr>
              <a:t>Shop home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9A5A08-A123-468E-86F5-DA3A0978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No account needed to browse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a264c091f4991"/>
          <a:stretch xmlns:a="http://schemas.openxmlformats.org/drawingml/2006/main"/>
        </p:blipFill>
        <p:spPr>
          <a:xfrm xmlns:a="http://schemas.openxmlformats.org/drawingml/2006/main">
            <a:off x="5372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7AB0A-2A59-437E-9D70-6ED33106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6C48"/>
                </a:solidFill>
              </a:defRPr>
            </a:pPr>
            <a:r>
              <a:rPr sz="1050" b="1">
                <a:solidFill>
                  <a:srgbClr val="006C48"/>
                </a:solidFill>
              </a:rPr>
              <a:t>Cart RedPoints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233CE3-0A52-4A27-B99E-051BE375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Loyalty appears with basket value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4a32a46c04886"/>
          <a:stretch xmlns:a="http://schemas.openxmlformats.org/drawingml/2006/main"/>
        </p:blipFill>
        <p:spPr>
          <a:xfrm xmlns:a="http://schemas.openxmlformats.org/drawingml/2006/main">
            <a:off x="6896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18A36-F01C-48E8-9E1E-D6B08DD2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B1C1B"/>
                </a:solidFill>
              </a:defRPr>
            </a:pPr>
            <a:r>
              <a:rPr sz="1050" b="1">
                <a:solidFill>
                  <a:srgbClr val="1B1C1B"/>
                </a:solidFill>
              </a:rPr>
              <a:t>Card setup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1A7EE2-A88A-4A17-B293-D516D401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Explain requirements before NFC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a9d89a7074191"/>
          <a:stretch xmlns:a="http://schemas.openxmlformats.org/drawingml/2006/main"/>
        </p:blipFill>
        <p:spPr>
          <a:xfrm xmlns:a="http://schemas.openxmlformats.org/drawingml/2006/main">
            <a:off x="8420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56238F-6B81-415B-824D-B4ED6C1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6C48"/>
                </a:solidFill>
              </a:defRPr>
            </a:pPr>
            <a:r>
              <a:rPr sz="1050" b="1">
                <a:solidFill>
                  <a:srgbClr val="006C48"/>
                </a:solidFill>
              </a:rPr>
              <a:t>Login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3A7EF-14B9-4888-AA92-3A418952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Ask only when identity is needed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9bd9f5103846f9"/>
          <a:stretch xmlns:a="http://schemas.openxmlformats.org/drawingml/2006/main"/>
        </p:blipFill>
        <p:spPr>
          <a:xfrm xmlns:a="http://schemas.openxmlformats.org/drawingml/2006/main">
            <a:off x="9944100" y="2502993"/>
            <a:ext cx="1276350" cy="2766414"/>
          </a:xfrm>
          <a:prstGeom xmlns:a="http://schemas.openxmlformats.org/drawingml/2006/main" prst="roundRect">
            <a:avLst>
              <a:gd name="adj" fmla="val 8955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8FA2A4-A181-4939-A063-C89575DA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530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6C48"/>
                </a:solidFill>
              </a:defRPr>
            </a:pPr>
            <a:r>
              <a:rPr sz="1050" b="1">
                <a:solidFill>
                  <a:srgbClr val="006C48"/>
                </a:solidFill>
              </a:rPr>
              <a:t>Push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E9911B-81A4-48DC-88BD-72AB48EE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56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645E5C"/>
                </a:solidFill>
              </a:defRPr>
            </a:pPr>
            <a:r>
              <a:rPr sz="825">
                <a:solidFill>
                  <a:srgbClr val="645E5C"/>
                </a:solidFill>
              </a:rPr>
              <a:t>Ask after status value exists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038179-657A-4D3B-91F2-3560E6B2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19800"/>
            <a:ext cx="3829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7EF9AA-75ED-49DC-93A8-42E9C210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6134100"/>
            <a:ext cx="3371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4003A"/>
                </a:solidFill>
              </a:defRPr>
            </a:pPr>
            <a:r>
              <a:rPr sz="1200" b="1">
                <a:solidFill>
                  <a:srgbClr val="E4003A"/>
                </a:solidFill>
              </a:rPr>
              <a:t>Onboarding: consent and intent only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6E445E-F6E0-4240-8EAA-EF113040A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019800"/>
            <a:ext cx="3829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DF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1FD85E-EE1C-425D-9A5D-7B5219B9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134100"/>
            <a:ext cx="3371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6C48"/>
                </a:solidFill>
              </a:defRPr>
            </a:pPr>
            <a:r>
              <a:rPr sz="1200" b="1">
                <a:solidFill>
                  <a:srgbClr val="006C48"/>
                </a:solidFill>
              </a:rPr>
              <a:t>Delayed asks: cart, card setup, account, status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B2AEF-60B4-411E-9EDC-F4684666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Redcare iOS onboarding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C96FD-1232-4ED9-96CF-2304B61A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8A817D"/>
                </a:solidFill>
              </a:defRPr>
            </a:pPr>
            <a:r>
              <a:rPr sz="975">
                <a:solidFill>
                  <a:srgbClr val="8A817D"/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1772484846"/>
      </p:ext>
    </p:extLst>
  </p:cSld>
  <p:transition spd="med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2026-09-23T07:17:32.6180000Z</dcterms:created>
  <dcterms:modified xsi:type="dcterms:W3CDTF">2026-09-23T07:17:32.6180000Z</dcterms:modified>
</coreProperties>
</file>