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7" r:id="rId2"/>
    <p:sldId id="258" r:id="rId3"/>
    <p:sldId id="259" r:id="rId4"/>
    <p:sldId id="260" r:id="rId5"/>
    <p:sldId id="266" r:id="rId6"/>
    <p:sldId id="265" r:id="rId7"/>
    <p:sldId id="264" r:id="rId8"/>
    <p:sldId id="256" r:id="rId9"/>
    <p:sldId id="270" r:id="rId10"/>
    <p:sldId id="273" r:id="rId1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94699"/>
  </p:normalViewPr>
  <p:slideViewPr>
    <p:cSldViewPr snapToGrid="0">
      <p:cViewPr varScale="1">
        <p:scale>
          <a:sx n="115" d="100"/>
          <a:sy n="115" d="100"/>
        </p:scale>
        <p:origin x="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7"/>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1F4C6068-CCB1-45C4-8339-D545B43F09AC}"/>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lang="en-US" sz="975" b="1" dirty="0">
                <a:solidFill>
                  <a:srgbClr val="E4003A"/>
                </a:solidFill>
              </a:rPr>
              <a:t>CURRENT STATISTICS</a:t>
            </a:r>
            <a:endParaRPr sz="975" b="1" dirty="0">
              <a:solidFill>
                <a:srgbClr val="E4003A"/>
              </a:solidFill>
            </a:endParaRPr>
          </a:p>
        </p:txBody>
      </p:sp>
      <p:sp>
        <p:nvSpPr>
          <p:cNvPr id="2" name="Rectangle 1">
            <a:extLst>
              <a:ext uri="{FF2B5EF4-FFF2-40B4-BE49-F238E27FC236}">
                <a16:creationId xmlns:a16="http://schemas.microsoft.com/office/drawing/2014/main" id="{F433D1E1-8C24-42D5-B44A-B937007D63EF}"/>
              </a:ext>
            </a:extLst>
          </p:cNvPr>
          <p:cNvSpPr>
            <a:spLocks noGrp="1"/>
          </p:cNvSpPr>
          <p:nvPr/>
        </p:nvSpPr>
        <p:spPr>
          <a:xfrm>
            <a:off x="609600" y="1000969"/>
            <a:ext cx="8096250" cy="990600"/>
          </a:xfrm>
          <a:prstGeom prst="rect">
            <a:avLst/>
          </a:prstGeom>
          <a:noFill/>
          <a:ln w="0">
            <a:noFill/>
            <a:prstDash val="solid"/>
          </a:ln>
        </p:spPr>
        <p:txBody>
          <a:bodyPr/>
          <a:lstStyle/>
          <a:p>
            <a:pPr>
              <a:defRPr sz="3150" b="1">
                <a:solidFill>
                  <a:srgbClr val="1B1C1B"/>
                </a:solidFill>
              </a:defRPr>
            </a:pPr>
            <a:r>
              <a:rPr lang="en-US" sz="3150" b="1" dirty="0">
                <a:solidFill>
                  <a:srgbClr val="1B1C1B"/>
                </a:solidFill>
              </a:rPr>
              <a:t>What does our data tell us</a:t>
            </a:r>
            <a:endParaRPr sz="3150" b="1" dirty="0">
              <a:solidFill>
                <a:srgbClr val="1B1C1B"/>
              </a:solidFill>
            </a:endParaRPr>
          </a:p>
        </p:txBody>
      </p:sp>
      <p:sp>
        <p:nvSpPr>
          <p:cNvPr id="3" name="Rectangle 2">
            <a:extLst>
              <a:ext uri="{FF2B5EF4-FFF2-40B4-BE49-F238E27FC236}">
                <a16:creationId xmlns:a16="http://schemas.microsoft.com/office/drawing/2014/main" id="{20AC6D94-6C4E-43F5-A4E3-07A1419547B6}"/>
              </a:ext>
            </a:extLst>
          </p:cNvPr>
          <p:cNvSpPr>
            <a:spLocks noGrp="1"/>
          </p:cNvSpPr>
          <p:nvPr/>
        </p:nvSpPr>
        <p:spPr>
          <a:xfrm>
            <a:off x="609600" y="1547630"/>
            <a:ext cx="7524750" cy="552450"/>
          </a:xfrm>
          <a:prstGeom prst="rect">
            <a:avLst/>
          </a:prstGeom>
          <a:noFill/>
          <a:ln w="0">
            <a:noFill/>
            <a:prstDash val="solid"/>
          </a:ln>
        </p:spPr>
        <p:txBody>
          <a:bodyPr/>
          <a:lstStyle/>
          <a:p>
            <a:pPr>
              <a:defRPr sz="1425">
                <a:solidFill>
                  <a:srgbClr val="645E5C"/>
                </a:solidFill>
              </a:defRPr>
            </a:pPr>
            <a:r>
              <a:rPr sz="1425" dirty="0">
                <a:solidFill>
                  <a:srgbClr val="645E5C"/>
                </a:solidFill>
              </a:rPr>
              <a:t>The source </a:t>
            </a:r>
            <a:r>
              <a:rPr lang="en-US" sz="1425" dirty="0">
                <a:solidFill>
                  <a:srgbClr val="645E5C"/>
                </a:solidFill>
              </a:rPr>
              <a:t>data</a:t>
            </a:r>
            <a:r>
              <a:rPr sz="1425" dirty="0">
                <a:solidFill>
                  <a:srgbClr val="645E5C"/>
                </a:solidFill>
              </a:rPr>
              <a:t> points to a sharp loss near Identification, weak onboarding push opt-in, and a strong cart moment that can carry loyalty and retention asks.</a:t>
            </a:r>
          </a:p>
        </p:txBody>
      </p:sp>
      <p:sp>
        <p:nvSpPr>
          <p:cNvPr id="4" name="Rounded Rectangle 3">
            <a:extLst>
              <a:ext uri="{FF2B5EF4-FFF2-40B4-BE49-F238E27FC236}">
                <a16:creationId xmlns:a16="http://schemas.microsoft.com/office/drawing/2014/main" id="{2AC1BF81-CBA0-4B49-A26C-B75E36C6AB92}"/>
              </a:ext>
            </a:extLst>
          </p:cNvPr>
          <p:cNvSpPr>
            <a:spLocks noGrp="1"/>
          </p:cNvSpPr>
          <p:nvPr/>
        </p:nvSpPr>
        <p:spPr>
          <a:xfrm>
            <a:off x="685800" y="2724150"/>
            <a:ext cx="1809750" cy="971550"/>
          </a:xfrm>
          <a:prstGeom prst="roundRect">
            <a:avLst>
              <a:gd name="adj" fmla="val 12500"/>
            </a:avLst>
          </a:prstGeom>
          <a:solidFill>
            <a:srgbClr val="FFFFFF"/>
          </a:solidFill>
          <a:ln w="9525">
            <a:solidFill>
              <a:srgbClr val="E9DEDA"/>
            </a:solidFill>
            <a:prstDash val="solid"/>
          </a:ln>
        </p:spPr>
        <p:txBody>
          <a:bodyPr/>
          <a:lstStyle/>
          <a:p>
            <a:endParaRPr lang="en-DE"/>
          </a:p>
        </p:txBody>
      </p:sp>
      <p:sp>
        <p:nvSpPr>
          <p:cNvPr id="5" name="Rectangle 4">
            <a:extLst>
              <a:ext uri="{FF2B5EF4-FFF2-40B4-BE49-F238E27FC236}">
                <a16:creationId xmlns:a16="http://schemas.microsoft.com/office/drawing/2014/main" id="{50D5F6AA-31DD-487D-8EAA-9D1EE9800885}"/>
              </a:ext>
            </a:extLst>
          </p:cNvPr>
          <p:cNvSpPr>
            <a:spLocks noGrp="1"/>
          </p:cNvSpPr>
          <p:nvPr/>
        </p:nvSpPr>
        <p:spPr>
          <a:xfrm>
            <a:off x="857250" y="2857500"/>
            <a:ext cx="1466850" cy="323850"/>
          </a:xfrm>
          <a:prstGeom prst="rect">
            <a:avLst/>
          </a:prstGeom>
          <a:noFill/>
          <a:ln w="0">
            <a:noFill/>
            <a:prstDash val="solid"/>
          </a:ln>
        </p:spPr>
        <p:txBody>
          <a:bodyPr/>
          <a:lstStyle/>
          <a:p>
            <a:pPr>
              <a:defRPr sz="2250" b="1">
                <a:solidFill>
                  <a:srgbClr val="1B1C1B"/>
                </a:solidFill>
              </a:defRPr>
            </a:pPr>
            <a:r>
              <a:rPr sz="2250" b="1">
                <a:solidFill>
                  <a:srgbClr val="1B1C1B"/>
                </a:solidFill>
              </a:rPr>
              <a:t>295.8k</a:t>
            </a:r>
          </a:p>
        </p:txBody>
      </p:sp>
      <p:sp>
        <p:nvSpPr>
          <p:cNvPr id="6" name="Rectangle 5">
            <a:extLst>
              <a:ext uri="{FF2B5EF4-FFF2-40B4-BE49-F238E27FC236}">
                <a16:creationId xmlns:a16="http://schemas.microsoft.com/office/drawing/2014/main" id="{7FADABC7-26E5-4F25-A642-4CEC4BEFDE18}"/>
              </a:ext>
            </a:extLst>
          </p:cNvPr>
          <p:cNvSpPr>
            <a:spLocks noGrp="1"/>
          </p:cNvSpPr>
          <p:nvPr/>
        </p:nvSpPr>
        <p:spPr>
          <a:xfrm>
            <a:off x="857250" y="3238500"/>
            <a:ext cx="1466850" cy="323850"/>
          </a:xfrm>
          <a:prstGeom prst="rect">
            <a:avLst/>
          </a:prstGeom>
          <a:noFill/>
          <a:ln w="0">
            <a:noFill/>
            <a:prstDash val="solid"/>
          </a:ln>
        </p:spPr>
        <p:txBody>
          <a:bodyPr/>
          <a:lstStyle/>
          <a:p>
            <a:pPr>
              <a:defRPr sz="1200">
                <a:solidFill>
                  <a:srgbClr val="645E5C"/>
                </a:solidFill>
              </a:defRPr>
            </a:pPr>
            <a:r>
              <a:rPr sz="1200">
                <a:solidFill>
                  <a:srgbClr val="645E5C"/>
                </a:solidFill>
              </a:rPr>
              <a:t>unique users baseline</a:t>
            </a:r>
          </a:p>
        </p:txBody>
      </p:sp>
      <p:sp>
        <p:nvSpPr>
          <p:cNvPr id="7" name="Rounded Rectangle 6">
            <a:extLst>
              <a:ext uri="{FF2B5EF4-FFF2-40B4-BE49-F238E27FC236}">
                <a16:creationId xmlns:a16="http://schemas.microsoft.com/office/drawing/2014/main" id="{695287D4-2BD2-419E-B3F9-292AEF195D7A}"/>
              </a:ext>
            </a:extLst>
          </p:cNvPr>
          <p:cNvSpPr>
            <a:spLocks noGrp="1"/>
          </p:cNvSpPr>
          <p:nvPr/>
        </p:nvSpPr>
        <p:spPr>
          <a:xfrm>
            <a:off x="2914650" y="2724150"/>
            <a:ext cx="1809750" cy="971550"/>
          </a:xfrm>
          <a:prstGeom prst="roundRect">
            <a:avLst>
              <a:gd name="adj" fmla="val 12500"/>
            </a:avLst>
          </a:prstGeom>
          <a:solidFill>
            <a:srgbClr val="DDF3E6"/>
          </a:solidFill>
          <a:ln w="9525">
            <a:solidFill>
              <a:srgbClr val="E9DEDA"/>
            </a:solidFill>
            <a:prstDash val="solid"/>
          </a:ln>
        </p:spPr>
        <p:txBody>
          <a:bodyPr/>
          <a:lstStyle/>
          <a:p>
            <a:endParaRPr lang="en-DE"/>
          </a:p>
        </p:txBody>
      </p:sp>
      <p:sp>
        <p:nvSpPr>
          <p:cNvPr id="8" name="Rectangle 7">
            <a:extLst>
              <a:ext uri="{FF2B5EF4-FFF2-40B4-BE49-F238E27FC236}">
                <a16:creationId xmlns:a16="http://schemas.microsoft.com/office/drawing/2014/main" id="{FBF32E98-BF1C-438D-8991-260E9C6F2F2C}"/>
              </a:ext>
            </a:extLst>
          </p:cNvPr>
          <p:cNvSpPr>
            <a:spLocks noGrp="1"/>
          </p:cNvSpPr>
          <p:nvPr/>
        </p:nvSpPr>
        <p:spPr>
          <a:xfrm>
            <a:off x="3086100" y="2857500"/>
            <a:ext cx="1466850" cy="323850"/>
          </a:xfrm>
          <a:prstGeom prst="rect">
            <a:avLst/>
          </a:prstGeom>
          <a:noFill/>
          <a:ln w="0">
            <a:noFill/>
            <a:prstDash val="solid"/>
          </a:ln>
        </p:spPr>
        <p:txBody>
          <a:bodyPr/>
          <a:lstStyle/>
          <a:p>
            <a:pPr>
              <a:defRPr sz="2250" b="1">
                <a:solidFill>
                  <a:srgbClr val="006C48"/>
                </a:solidFill>
              </a:defRPr>
            </a:pPr>
            <a:r>
              <a:rPr sz="2250" b="1">
                <a:solidFill>
                  <a:srgbClr val="006C48"/>
                </a:solidFill>
              </a:rPr>
              <a:t>226.9k</a:t>
            </a:r>
          </a:p>
        </p:txBody>
      </p:sp>
      <p:sp>
        <p:nvSpPr>
          <p:cNvPr id="9" name="Rectangle 8">
            <a:extLst>
              <a:ext uri="{FF2B5EF4-FFF2-40B4-BE49-F238E27FC236}">
                <a16:creationId xmlns:a16="http://schemas.microsoft.com/office/drawing/2014/main" id="{C9C16BB8-BA0E-4E40-BC7B-A54D436F0C63}"/>
              </a:ext>
            </a:extLst>
          </p:cNvPr>
          <p:cNvSpPr>
            <a:spLocks noGrp="1"/>
          </p:cNvSpPr>
          <p:nvPr/>
        </p:nvSpPr>
        <p:spPr>
          <a:xfrm>
            <a:off x="3086100" y="3238500"/>
            <a:ext cx="1466850" cy="323850"/>
          </a:xfrm>
          <a:prstGeom prst="rect">
            <a:avLst/>
          </a:prstGeom>
          <a:noFill/>
          <a:ln w="0">
            <a:noFill/>
            <a:prstDash val="solid"/>
          </a:ln>
        </p:spPr>
        <p:txBody>
          <a:bodyPr/>
          <a:lstStyle/>
          <a:p>
            <a:pPr>
              <a:defRPr sz="1200">
                <a:solidFill>
                  <a:srgbClr val="006C48"/>
                </a:solidFill>
              </a:defRPr>
            </a:pPr>
            <a:r>
              <a:rPr sz="1200">
                <a:solidFill>
                  <a:srgbClr val="006C48"/>
                </a:solidFill>
              </a:rPr>
              <a:t>reach Home, 76.7%</a:t>
            </a:r>
          </a:p>
        </p:txBody>
      </p:sp>
      <p:sp>
        <p:nvSpPr>
          <p:cNvPr id="10" name="Rounded Rectangle 9">
            <a:extLst>
              <a:ext uri="{FF2B5EF4-FFF2-40B4-BE49-F238E27FC236}">
                <a16:creationId xmlns:a16="http://schemas.microsoft.com/office/drawing/2014/main" id="{C3073FB7-BB28-40DC-AE18-A7B76F7A4E04}"/>
              </a:ext>
            </a:extLst>
          </p:cNvPr>
          <p:cNvSpPr>
            <a:spLocks noGrp="1"/>
          </p:cNvSpPr>
          <p:nvPr/>
        </p:nvSpPr>
        <p:spPr>
          <a:xfrm>
            <a:off x="5143500" y="2724150"/>
            <a:ext cx="2133600" cy="971550"/>
          </a:xfrm>
          <a:prstGeom prst="roundRect">
            <a:avLst>
              <a:gd name="adj" fmla="val 12500"/>
            </a:avLst>
          </a:prstGeom>
          <a:solidFill>
            <a:srgbClr val="FFF1EA"/>
          </a:solidFill>
          <a:ln w="9525">
            <a:solidFill>
              <a:srgbClr val="E9DEDA"/>
            </a:solidFill>
            <a:prstDash val="solid"/>
          </a:ln>
        </p:spPr>
        <p:txBody>
          <a:bodyPr/>
          <a:lstStyle/>
          <a:p>
            <a:endParaRPr lang="en-DE"/>
          </a:p>
        </p:txBody>
      </p:sp>
      <p:sp>
        <p:nvSpPr>
          <p:cNvPr id="11" name="Rectangle 10">
            <a:extLst>
              <a:ext uri="{FF2B5EF4-FFF2-40B4-BE49-F238E27FC236}">
                <a16:creationId xmlns:a16="http://schemas.microsoft.com/office/drawing/2014/main" id="{47ED9CEC-8191-42E9-8CB5-403A8EDAE3FF}"/>
              </a:ext>
            </a:extLst>
          </p:cNvPr>
          <p:cNvSpPr>
            <a:spLocks noGrp="1"/>
          </p:cNvSpPr>
          <p:nvPr/>
        </p:nvSpPr>
        <p:spPr>
          <a:xfrm>
            <a:off x="5314950" y="2857500"/>
            <a:ext cx="1790700" cy="323850"/>
          </a:xfrm>
          <a:prstGeom prst="rect">
            <a:avLst/>
          </a:prstGeom>
          <a:noFill/>
          <a:ln w="0">
            <a:noFill/>
            <a:prstDash val="solid"/>
          </a:ln>
        </p:spPr>
        <p:txBody>
          <a:bodyPr/>
          <a:lstStyle/>
          <a:p>
            <a:pPr>
              <a:defRPr sz="2250" b="1">
                <a:solidFill>
                  <a:srgbClr val="E4003A"/>
                </a:solidFill>
              </a:defRPr>
            </a:pPr>
            <a:r>
              <a:rPr sz="2250" b="1" dirty="0">
                <a:solidFill>
                  <a:srgbClr val="E4003A"/>
                </a:solidFill>
              </a:rPr>
              <a:t>~19.5%</a:t>
            </a:r>
          </a:p>
        </p:txBody>
      </p:sp>
      <p:sp>
        <p:nvSpPr>
          <p:cNvPr id="12" name="Rectangle 11">
            <a:extLst>
              <a:ext uri="{FF2B5EF4-FFF2-40B4-BE49-F238E27FC236}">
                <a16:creationId xmlns:a16="http://schemas.microsoft.com/office/drawing/2014/main" id="{08998FD1-2C15-42A4-B577-9473A16760A2}"/>
              </a:ext>
            </a:extLst>
          </p:cNvPr>
          <p:cNvSpPr>
            <a:spLocks noGrp="1"/>
          </p:cNvSpPr>
          <p:nvPr/>
        </p:nvSpPr>
        <p:spPr>
          <a:xfrm>
            <a:off x="5314950" y="3238500"/>
            <a:ext cx="1790700" cy="323850"/>
          </a:xfrm>
          <a:prstGeom prst="rect">
            <a:avLst/>
          </a:prstGeom>
          <a:noFill/>
          <a:ln w="0">
            <a:noFill/>
            <a:prstDash val="solid"/>
          </a:ln>
        </p:spPr>
        <p:txBody>
          <a:bodyPr/>
          <a:lstStyle/>
          <a:p>
            <a:pPr>
              <a:defRPr sz="1200">
                <a:solidFill>
                  <a:srgbClr val="645E5C"/>
                </a:solidFill>
              </a:defRPr>
            </a:pPr>
            <a:r>
              <a:rPr sz="1200">
                <a:solidFill>
                  <a:srgbClr val="645E5C"/>
                </a:solidFill>
              </a:rPr>
              <a:t>largest loss near Identification</a:t>
            </a:r>
          </a:p>
        </p:txBody>
      </p:sp>
      <p:sp>
        <p:nvSpPr>
          <p:cNvPr id="13" name="Rounded Rectangle 12">
            <a:extLst>
              <a:ext uri="{FF2B5EF4-FFF2-40B4-BE49-F238E27FC236}">
                <a16:creationId xmlns:a16="http://schemas.microsoft.com/office/drawing/2014/main" id="{A59196AA-FD22-46DD-8BA8-CCC3F1C5E03C}"/>
              </a:ext>
            </a:extLst>
          </p:cNvPr>
          <p:cNvSpPr>
            <a:spLocks noGrp="1"/>
          </p:cNvSpPr>
          <p:nvPr/>
        </p:nvSpPr>
        <p:spPr>
          <a:xfrm>
            <a:off x="7600950" y="2724150"/>
            <a:ext cx="1809750" cy="971550"/>
          </a:xfrm>
          <a:prstGeom prst="roundRect">
            <a:avLst>
              <a:gd name="adj" fmla="val 12500"/>
            </a:avLst>
          </a:prstGeom>
          <a:solidFill>
            <a:srgbClr val="FFF1EA"/>
          </a:solidFill>
          <a:ln w="9525">
            <a:solidFill>
              <a:srgbClr val="E9DEDA"/>
            </a:solidFill>
            <a:prstDash val="solid"/>
          </a:ln>
        </p:spPr>
        <p:txBody>
          <a:bodyPr/>
          <a:lstStyle/>
          <a:p>
            <a:endParaRPr lang="en-DE"/>
          </a:p>
        </p:txBody>
      </p:sp>
      <p:sp>
        <p:nvSpPr>
          <p:cNvPr id="14" name="Rectangle 13">
            <a:extLst>
              <a:ext uri="{FF2B5EF4-FFF2-40B4-BE49-F238E27FC236}">
                <a16:creationId xmlns:a16="http://schemas.microsoft.com/office/drawing/2014/main" id="{5C01927A-9EC8-4C44-A084-9AE797DBBA06}"/>
              </a:ext>
            </a:extLst>
          </p:cNvPr>
          <p:cNvSpPr>
            <a:spLocks noGrp="1"/>
          </p:cNvSpPr>
          <p:nvPr/>
        </p:nvSpPr>
        <p:spPr>
          <a:xfrm>
            <a:off x="7772400" y="2857500"/>
            <a:ext cx="1466850" cy="323850"/>
          </a:xfrm>
          <a:prstGeom prst="rect">
            <a:avLst/>
          </a:prstGeom>
          <a:noFill/>
          <a:ln w="0">
            <a:noFill/>
            <a:prstDash val="solid"/>
          </a:ln>
        </p:spPr>
        <p:txBody>
          <a:bodyPr/>
          <a:lstStyle/>
          <a:p>
            <a:pPr>
              <a:defRPr sz="2250" b="1">
                <a:solidFill>
                  <a:srgbClr val="E4003A"/>
                </a:solidFill>
              </a:defRPr>
            </a:pPr>
            <a:r>
              <a:rPr sz="2250" b="1">
                <a:solidFill>
                  <a:srgbClr val="E4003A"/>
                </a:solidFill>
              </a:rPr>
              <a:t>6.5%</a:t>
            </a:r>
          </a:p>
        </p:txBody>
      </p:sp>
      <p:sp>
        <p:nvSpPr>
          <p:cNvPr id="15" name="Rectangle 14">
            <a:extLst>
              <a:ext uri="{FF2B5EF4-FFF2-40B4-BE49-F238E27FC236}">
                <a16:creationId xmlns:a16="http://schemas.microsoft.com/office/drawing/2014/main" id="{0C1423FD-D942-478A-AD41-BEADC8966AE5}"/>
              </a:ext>
            </a:extLst>
          </p:cNvPr>
          <p:cNvSpPr>
            <a:spLocks noGrp="1"/>
          </p:cNvSpPr>
          <p:nvPr/>
        </p:nvSpPr>
        <p:spPr>
          <a:xfrm>
            <a:off x="7772400" y="3238500"/>
            <a:ext cx="1466850" cy="323850"/>
          </a:xfrm>
          <a:prstGeom prst="rect">
            <a:avLst/>
          </a:prstGeom>
          <a:noFill/>
          <a:ln w="0">
            <a:noFill/>
            <a:prstDash val="solid"/>
          </a:ln>
        </p:spPr>
        <p:txBody>
          <a:bodyPr/>
          <a:lstStyle/>
          <a:p>
            <a:pPr>
              <a:defRPr sz="1200">
                <a:solidFill>
                  <a:srgbClr val="645E5C"/>
                </a:solidFill>
              </a:defRPr>
            </a:pPr>
            <a:r>
              <a:rPr sz="1200">
                <a:solidFill>
                  <a:srgbClr val="645E5C"/>
                </a:solidFill>
              </a:rPr>
              <a:t>push opt-in in onboarding</a:t>
            </a:r>
          </a:p>
        </p:txBody>
      </p:sp>
      <p:sp>
        <p:nvSpPr>
          <p:cNvPr id="16" name="Rounded Rectangle 15">
            <a:extLst>
              <a:ext uri="{FF2B5EF4-FFF2-40B4-BE49-F238E27FC236}">
                <a16:creationId xmlns:a16="http://schemas.microsoft.com/office/drawing/2014/main" id="{1CEA5BB1-9B36-4B24-A0CA-D923B569596B}"/>
              </a:ext>
            </a:extLst>
          </p:cNvPr>
          <p:cNvSpPr>
            <a:spLocks noGrp="1"/>
          </p:cNvSpPr>
          <p:nvPr/>
        </p:nvSpPr>
        <p:spPr>
          <a:xfrm>
            <a:off x="9734550" y="2724150"/>
            <a:ext cx="1809750" cy="971550"/>
          </a:xfrm>
          <a:prstGeom prst="roundRect">
            <a:avLst>
              <a:gd name="adj" fmla="val 12500"/>
            </a:avLst>
          </a:prstGeom>
          <a:solidFill>
            <a:srgbClr val="FFFFFF"/>
          </a:solidFill>
          <a:ln w="9525">
            <a:solidFill>
              <a:srgbClr val="E9DEDA"/>
            </a:solidFill>
            <a:prstDash val="solid"/>
          </a:ln>
        </p:spPr>
        <p:txBody>
          <a:bodyPr/>
          <a:lstStyle/>
          <a:p>
            <a:endParaRPr lang="en-DE"/>
          </a:p>
        </p:txBody>
      </p:sp>
      <p:sp>
        <p:nvSpPr>
          <p:cNvPr id="17" name="Rectangle 16">
            <a:extLst>
              <a:ext uri="{FF2B5EF4-FFF2-40B4-BE49-F238E27FC236}">
                <a16:creationId xmlns:a16="http://schemas.microsoft.com/office/drawing/2014/main" id="{E2B0B058-ACC2-43F4-B7CB-08BC1782B099}"/>
              </a:ext>
            </a:extLst>
          </p:cNvPr>
          <p:cNvSpPr>
            <a:spLocks noGrp="1"/>
          </p:cNvSpPr>
          <p:nvPr/>
        </p:nvSpPr>
        <p:spPr>
          <a:xfrm>
            <a:off x="9906000" y="2857500"/>
            <a:ext cx="1466850" cy="323850"/>
          </a:xfrm>
          <a:prstGeom prst="rect">
            <a:avLst/>
          </a:prstGeom>
          <a:noFill/>
          <a:ln w="0">
            <a:noFill/>
            <a:prstDash val="solid"/>
          </a:ln>
        </p:spPr>
        <p:txBody>
          <a:bodyPr/>
          <a:lstStyle/>
          <a:p>
            <a:pPr>
              <a:defRPr sz="2250" b="1">
                <a:solidFill>
                  <a:srgbClr val="1B1C1B"/>
                </a:solidFill>
              </a:defRPr>
            </a:pPr>
            <a:r>
              <a:rPr sz="2250" b="1">
                <a:solidFill>
                  <a:srgbClr val="1B1C1B"/>
                </a:solidFill>
              </a:rPr>
              <a:t>~20%</a:t>
            </a:r>
          </a:p>
        </p:txBody>
      </p:sp>
      <p:sp>
        <p:nvSpPr>
          <p:cNvPr id="18" name="Rectangle 17">
            <a:extLst>
              <a:ext uri="{FF2B5EF4-FFF2-40B4-BE49-F238E27FC236}">
                <a16:creationId xmlns:a16="http://schemas.microsoft.com/office/drawing/2014/main" id="{3DAB59E3-77C9-42F7-BE7D-EEE538AF2652}"/>
              </a:ext>
            </a:extLst>
          </p:cNvPr>
          <p:cNvSpPr>
            <a:spLocks noGrp="1"/>
          </p:cNvSpPr>
          <p:nvPr/>
        </p:nvSpPr>
        <p:spPr>
          <a:xfrm>
            <a:off x="9906000" y="3238500"/>
            <a:ext cx="1466850" cy="323850"/>
          </a:xfrm>
          <a:prstGeom prst="rect">
            <a:avLst/>
          </a:prstGeom>
          <a:noFill/>
          <a:ln w="0">
            <a:noFill/>
            <a:prstDash val="solid"/>
          </a:ln>
        </p:spPr>
        <p:txBody>
          <a:bodyPr/>
          <a:lstStyle/>
          <a:p>
            <a:pPr>
              <a:defRPr sz="1200">
                <a:solidFill>
                  <a:srgbClr val="645E5C"/>
                </a:solidFill>
              </a:defRPr>
            </a:pPr>
            <a:r>
              <a:rPr sz="1200">
                <a:solidFill>
                  <a:srgbClr val="645E5C"/>
                </a:solidFill>
              </a:rPr>
              <a:t>industry push benchmark</a:t>
            </a:r>
          </a:p>
        </p:txBody>
      </p:sp>
      <p:sp>
        <p:nvSpPr>
          <p:cNvPr id="19" name="Rounded Rectangle 18">
            <a:extLst>
              <a:ext uri="{FF2B5EF4-FFF2-40B4-BE49-F238E27FC236}">
                <a16:creationId xmlns:a16="http://schemas.microsoft.com/office/drawing/2014/main" id="{7283FC59-024B-4666-BAAD-5B4C5E5E9F93}"/>
              </a:ext>
            </a:extLst>
          </p:cNvPr>
          <p:cNvSpPr>
            <a:spLocks noGrp="1"/>
          </p:cNvSpPr>
          <p:nvPr/>
        </p:nvSpPr>
        <p:spPr>
          <a:xfrm>
            <a:off x="685800" y="4076700"/>
            <a:ext cx="1809750" cy="971550"/>
          </a:xfrm>
          <a:prstGeom prst="roundRect">
            <a:avLst>
              <a:gd name="adj" fmla="val 12500"/>
            </a:avLst>
          </a:prstGeom>
          <a:solidFill>
            <a:srgbClr val="FFF1EA"/>
          </a:solidFill>
          <a:ln w="9525">
            <a:solidFill>
              <a:srgbClr val="E9DEDA"/>
            </a:solidFill>
            <a:prstDash val="solid"/>
          </a:ln>
        </p:spPr>
        <p:txBody>
          <a:bodyPr/>
          <a:lstStyle/>
          <a:p>
            <a:endParaRPr lang="en-DE"/>
          </a:p>
        </p:txBody>
      </p:sp>
      <p:sp>
        <p:nvSpPr>
          <p:cNvPr id="20" name="Rectangle 19">
            <a:extLst>
              <a:ext uri="{FF2B5EF4-FFF2-40B4-BE49-F238E27FC236}">
                <a16:creationId xmlns:a16="http://schemas.microsoft.com/office/drawing/2014/main" id="{71222D2F-9A40-44A4-B4F1-359A2BD60E7C}"/>
              </a:ext>
            </a:extLst>
          </p:cNvPr>
          <p:cNvSpPr>
            <a:spLocks noGrp="1"/>
          </p:cNvSpPr>
          <p:nvPr/>
        </p:nvSpPr>
        <p:spPr>
          <a:xfrm>
            <a:off x="857250" y="4210050"/>
            <a:ext cx="1466850" cy="323850"/>
          </a:xfrm>
          <a:prstGeom prst="rect">
            <a:avLst/>
          </a:prstGeom>
          <a:noFill/>
          <a:ln w="0">
            <a:noFill/>
            <a:prstDash val="solid"/>
          </a:ln>
        </p:spPr>
        <p:txBody>
          <a:bodyPr/>
          <a:lstStyle/>
          <a:p>
            <a:pPr>
              <a:defRPr sz="2250" b="1">
                <a:solidFill>
                  <a:srgbClr val="E4003A"/>
                </a:solidFill>
              </a:defRPr>
            </a:pPr>
            <a:r>
              <a:rPr sz="2250" b="1">
                <a:solidFill>
                  <a:srgbClr val="E4003A"/>
                </a:solidFill>
              </a:rPr>
              <a:t>2.6%</a:t>
            </a:r>
          </a:p>
        </p:txBody>
      </p:sp>
      <p:sp>
        <p:nvSpPr>
          <p:cNvPr id="21" name="Rectangle 20">
            <a:extLst>
              <a:ext uri="{FF2B5EF4-FFF2-40B4-BE49-F238E27FC236}">
                <a16:creationId xmlns:a16="http://schemas.microsoft.com/office/drawing/2014/main" id="{BFC92363-15E9-4A49-82DF-009E7490CD94}"/>
              </a:ext>
            </a:extLst>
          </p:cNvPr>
          <p:cNvSpPr>
            <a:spLocks noGrp="1"/>
          </p:cNvSpPr>
          <p:nvPr/>
        </p:nvSpPr>
        <p:spPr>
          <a:xfrm>
            <a:off x="857250" y="4591050"/>
            <a:ext cx="1466850" cy="323850"/>
          </a:xfrm>
          <a:prstGeom prst="rect">
            <a:avLst/>
          </a:prstGeom>
          <a:noFill/>
          <a:ln w="0">
            <a:noFill/>
            <a:prstDash val="solid"/>
          </a:ln>
        </p:spPr>
        <p:txBody>
          <a:bodyPr/>
          <a:lstStyle/>
          <a:p>
            <a:pPr>
              <a:defRPr sz="1200">
                <a:solidFill>
                  <a:srgbClr val="645E5C"/>
                </a:solidFill>
              </a:defRPr>
            </a:pPr>
            <a:r>
              <a:rPr sz="1200">
                <a:solidFill>
                  <a:srgbClr val="645E5C"/>
                </a:solidFill>
              </a:rPr>
              <a:t>guest start-to-finish conversion</a:t>
            </a:r>
          </a:p>
        </p:txBody>
      </p:sp>
      <p:sp>
        <p:nvSpPr>
          <p:cNvPr id="22" name="Rounded Rectangle 21">
            <a:extLst>
              <a:ext uri="{FF2B5EF4-FFF2-40B4-BE49-F238E27FC236}">
                <a16:creationId xmlns:a16="http://schemas.microsoft.com/office/drawing/2014/main" id="{86BB7AD7-82F4-4731-AD57-D4D1E1B861B3}"/>
              </a:ext>
            </a:extLst>
          </p:cNvPr>
          <p:cNvSpPr>
            <a:spLocks noGrp="1"/>
          </p:cNvSpPr>
          <p:nvPr/>
        </p:nvSpPr>
        <p:spPr>
          <a:xfrm>
            <a:off x="2914650" y="4076700"/>
            <a:ext cx="1809750" cy="971550"/>
          </a:xfrm>
          <a:prstGeom prst="roundRect">
            <a:avLst>
              <a:gd name="adj" fmla="val 12500"/>
            </a:avLst>
          </a:prstGeom>
          <a:solidFill>
            <a:srgbClr val="FFFFFF"/>
          </a:solidFill>
          <a:ln w="9525">
            <a:solidFill>
              <a:srgbClr val="E9DEDA"/>
            </a:solidFill>
            <a:prstDash val="solid"/>
          </a:ln>
        </p:spPr>
        <p:txBody>
          <a:bodyPr/>
          <a:lstStyle/>
          <a:p>
            <a:endParaRPr lang="en-DE"/>
          </a:p>
        </p:txBody>
      </p:sp>
      <p:sp>
        <p:nvSpPr>
          <p:cNvPr id="23" name="Rectangle 22">
            <a:extLst>
              <a:ext uri="{FF2B5EF4-FFF2-40B4-BE49-F238E27FC236}">
                <a16:creationId xmlns:a16="http://schemas.microsoft.com/office/drawing/2014/main" id="{F095922E-DF50-4EF4-BCA4-061153D726F4}"/>
              </a:ext>
            </a:extLst>
          </p:cNvPr>
          <p:cNvSpPr>
            <a:spLocks noGrp="1"/>
          </p:cNvSpPr>
          <p:nvPr/>
        </p:nvSpPr>
        <p:spPr>
          <a:xfrm>
            <a:off x="3086100" y="4210050"/>
            <a:ext cx="1466850" cy="323850"/>
          </a:xfrm>
          <a:prstGeom prst="rect">
            <a:avLst/>
          </a:prstGeom>
          <a:noFill/>
          <a:ln w="0">
            <a:noFill/>
            <a:prstDash val="solid"/>
          </a:ln>
        </p:spPr>
        <p:txBody>
          <a:bodyPr/>
          <a:lstStyle/>
          <a:p>
            <a:pPr>
              <a:defRPr sz="2250" b="1">
                <a:solidFill>
                  <a:srgbClr val="1B1C1B"/>
                </a:solidFill>
              </a:defRPr>
            </a:pPr>
            <a:r>
              <a:rPr sz="2250" b="1">
                <a:solidFill>
                  <a:srgbClr val="1B1C1B"/>
                </a:solidFill>
              </a:rPr>
              <a:t>11.6%</a:t>
            </a:r>
          </a:p>
        </p:txBody>
      </p:sp>
      <p:sp>
        <p:nvSpPr>
          <p:cNvPr id="24" name="Rectangle 23">
            <a:extLst>
              <a:ext uri="{FF2B5EF4-FFF2-40B4-BE49-F238E27FC236}">
                <a16:creationId xmlns:a16="http://schemas.microsoft.com/office/drawing/2014/main" id="{CA7D8786-7C8F-4488-9ED7-FEB2B3856CB7}"/>
              </a:ext>
            </a:extLst>
          </p:cNvPr>
          <p:cNvSpPr>
            <a:spLocks noGrp="1"/>
          </p:cNvSpPr>
          <p:nvPr/>
        </p:nvSpPr>
        <p:spPr>
          <a:xfrm>
            <a:off x="3086100" y="4591050"/>
            <a:ext cx="1466850" cy="323850"/>
          </a:xfrm>
          <a:prstGeom prst="rect">
            <a:avLst/>
          </a:prstGeom>
          <a:noFill/>
          <a:ln w="0">
            <a:noFill/>
            <a:prstDash val="solid"/>
          </a:ln>
        </p:spPr>
        <p:txBody>
          <a:bodyPr/>
          <a:lstStyle/>
          <a:p>
            <a:pPr>
              <a:defRPr sz="1200">
                <a:solidFill>
                  <a:srgbClr val="645E5C"/>
                </a:solidFill>
              </a:defRPr>
            </a:pPr>
            <a:r>
              <a:rPr sz="1200">
                <a:solidFill>
                  <a:srgbClr val="645E5C"/>
                </a:solidFill>
              </a:rPr>
              <a:t>registered start-to-finish conversion</a:t>
            </a:r>
          </a:p>
        </p:txBody>
      </p:sp>
      <p:sp>
        <p:nvSpPr>
          <p:cNvPr id="25" name="Rounded Rectangle 24">
            <a:extLst>
              <a:ext uri="{FF2B5EF4-FFF2-40B4-BE49-F238E27FC236}">
                <a16:creationId xmlns:a16="http://schemas.microsoft.com/office/drawing/2014/main" id="{A92F4FD0-634D-4D00-A1A9-9C183B3F5EFE}"/>
              </a:ext>
            </a:extLst>
          </p:cNvPr>
          <p:cNvSpPr>
            <a:spLocks noGrp="1"/>
          </p:cNvSpPr>
          <p:nvPr/>
        </p:nvSpPr>
        <p:spPr>
          <a:xfrm>
            <a:off x="5143500" y="4076700"/>
            <a:ext cx="1809750" cy="971550"/>
          </a:xfrm>
          <a:prstGeom prst="roundRect">
            <a:avLst>
              <a:gd name="adj" fmla="val 12500"/>
            </a:avLst>
          </a:prstGeom>
          <a:solidFill>
            <a:srgbClr val="DDF3E6"/>
          </a:solidFill>
          <a:ln w="9525">
            <a:solidFill>
              <a:srgbClr val="E9DEDA"/>
            </a:solidFill>
            <a:prstDash val="solid"/>
          </a:ln>
        </p:spPr>
        <p:txBody>
          <a:bodyPr/>
          <a:lstStyle/>
          <a:p>
            <a:endParaRPr lang="en-DE"/>
          </a:p>
        </p:txBody>
      </p:sp>
      <p:sp>
        <p:nvSpPr>
          <p:cNvPr id="26" name="Rectangle 25">
            <a:extLst>
              <a:ext uri="{FF2B5EF4-FFF2-40B4-BE49-F238E27FC236}">
                <a16:creationId xmlns:a16="http://schemas.microsoft.com/office/drawing/2014/main" id="{E56970C6-6EED-43F8-9F14-066DDA47E2A6}"/>
              </a:ext>
            </a:extLst>
          </p:cNvPr>
          <p:cNvSpPr>
            <a:spLocks noGrp="1"/>
          </p:cNvSpPr>
          <p:nvPr/>
        </p:nvSpPr>
        <p:spPr>
          <a:xfrm>
            <a:off x="5314950" y="4210050"/>
            <a:ext cx="1466850" cy="323850"/>
          </a:xfrm>
          <a:prstGeom prst="rect">
            <a:avLst/>
          </a:prstGeom>
          <a:noFill/>
          <a:ln w="0">
            <a:noFill/>
            <a:prstDash val="solid"/>
          </a:ln>
        </p:spPr>
        <p:txBody>
          <a:bodyPr/>
          <a:lstStyle/>
          <a:p>
            <a:pPr>
              <a:defRPr sz="2250" b="1">
                <a:solidFill>
                  <a:srgbClr val="006C48"/>
                </a:solidFill>
              </a:defRPr>
            </a:pPr>
            <a:r>
              <a:rPr sz="2250" b="1">
                <a:solidFill>
                  <a:srgbClr val="006C48"/>
                </a:solidFill>
              </a:rPr>
              <a:t>17.1%</a:t>
            </a:r>
          </a:p>
        </p:txBody>
      </p:sp>
      <p:sp>
        <p:nvSpPr>
          <p:cNvPr id="27" name="Rectangle 26">
            <a:extLst>
              <a:ext uri="{FF2B5EF4-FFF2-40B4-BE49-F238E27FC236}">
                <a16:creationId xmlns:a16="http://schemas.microsoft.com/office/drawing/2014/main" id="{F1ABFC53-2672-4D75-8676-A6E5F98638A9}"/>
              </a:ext>
            </a:extLst>
          </p:cNvPr>
          <p:cNvSpPr>
            <a:spLocks noGrp="1"/>
          </p:cNvSpPr>
          <p:nvPr/>
        </p:nvSpPr>
        <p:spPr>
          <a:xfrm>
            <a:off x="5314950" y="4591050"/>
            <a:ext cx="1466850" cy="323850"/>
          </a:xfrm>
          <a:prstGeom prst="rect">
            <a:avLst/>
          </a:prstGeom>
          <a:noFill/>
          <a:ln w="0">
            <a:noFill/>
            <a:prstDash val="solid"/>
          </a:ln>
        </p:spPr>
        <p:txBody>
          <a:bodyPr/>
          <a:lstStyle/>
          <a:p>
            <a:pPr>
              <a:defRPr sz="1200">
                <a:solidFill>
                  <a:srgbClr val="006C48"/>
                </a:solidFill>
              </a:defRPr>
            </a:pPr>
            <a:r>
              <a:rPr sz="1200">
                <a:solidFill>
                  <a:srgbClr val="006C48"/>
                </a:solidFill>
              </a:rPr>
              <a:t>logged-in start-to-finish conversion</a:t>
            </a:r>
          </a:p>
        </p:txBody>
      </p:sp>
      <p:sp>
        <p:nvSpPr>
          <p:cNvPr id="28" name="Rounded Rectangle 27">
            <a:extLst>
              <a:ext uri="{FF2B5EF4-FFF2-40B4-BE49-F238E27FC236}">
                <a16:creationId xmlns:a16="http://schemas.microsoft.com/office/drawing/2014/main" id="{4CE997F8-831F-43DD-B2BD-57D3AFB9BD38}"/>
              </a:ext>
            </a:extLst>
          </p:cNvPr>
          <p:cNvSpPr>
            <a:spLocks noGrp="1"/>
          </p:cNvSpPr>
          <p:nvPr/>
        </p:nvSpPr>
        <p:spPr>
          <a:xfrm>
            <a:off x="7600950" y="4076700"/>
            <a:ext cx="1809750" cy="971550"/>
          </a:xfrm>
          <a:prstGeom prst="roundRect">
            <a:avLst>
              <a:gd name="adj" fmla="val 12500"/>
            </a:avLst>
          </a:prstGeom>
          <a:solidFill>
            <a:srgbClr val="DDF3E6"/>
          </a:solidFill>
          <a:ln w="9525">
            <a:solidFill>
              <a:srgbClr val="E9DEDA"/>
            </a:solidFill>
            <a:prstDash val="solid"/>
          </a:ln>
        </p:spPr>
        <p:txBody>
          <a:bodyPr/>
          <a:lstStyle/>
          <a:p>
            <a:endParaRPr lang="en-DE"/>
          </a:p>
        </p:txBody>
      </p:sp>
      <p:sp>
        <p:nvSpPr>
          <p:cNvPr id="29" name="Rectangle 28">
            <a:extLst>
              <a:ext uri="{FF2B5EF4-FFF2-40B4-BE49-F238E27FC236}">
                <a16:creationId xmlns:a16="http://schemas.microsoft.com/office/drawing/2014/main" id="{B87C111F-1EBB-4CF2-A515-E0E8D961B55B}"/>
              </a:ext>
            </a:extLst>
          </p:cNvPr>
          <p:cNvSpPr>
            <a:spLocks noGrp="1"/>
          </p:cNvSpPr>
          <p:nvPr/>
        </p:nvSpPr>
        <p:spPr>
          <a:xfrm>
            <a:off x="7772400" y="4210050"/>
            <a:ext cx="1466850" cy="323850"/>
          </a:xfrm>
          <a:prstGeom prst="rect">
            <a:avLst/>
          </a:prstGeom>
          <a:noFill/>
          <a:ln w="0">
            <a:noFill/>
            <a:prstDash val="solid"/>
          </a:ln>
        </p:spPr>
        <p:txBody>
          <a:bodyPr/>
          <a:lstStyle/>
          <a:p>
            <a:pPr>
              <a:defRPr sz="2250" b="1">
                <a:solidFill>
                  <a:srgbClr val="006C48"/>
                </a:solidFill>
              </a:defRPr>
            </a:pPr>
            <a:r>
              <a:rPr sz="2250" b="1">
                <a:solidFill>
                  <a:srgbClr val="006C48"/>
                </a:solidFill>
              </a:rPr>
              <a:t>61%</a:t>
            </a:r>
          </a:p>
        </p:txBody>
      </p:sp>
      <p:sp>
        <p:nvSpPr>
          <p:cNvPr id="30" name="Rectangle 29">
            <a:extLst>
              <a:ext uri="{FF2B5EF4-FFF2-40B4-BE49-F238E27FC236}">
                <a16:creationId xmlns:a16="http://schemas.microsoft.com/office/drawing/2014/main" id="{336A4BD1-9B88-4B3B-AF72-306C6D04781F}"/>
              </a:ext>
            </a:extLst>
          </p:cNvPr>
          <p:cNvSpPr>
            <a:spLocks noGrp="1"/>
          </p:cNvSpPr>
          <p:nvPr/>
        </p:nvSpPr>
        <p:spPr>
          <a:xfrm>
            <a:off x="7772400" y="4591050"/>
            <a:ext cx="1466850" cy="323850"/>
          </a:xfrm>
          <a:prstGeom prst="rect">
            <a:avLst/>
          </a:prstGeom>
          <a:noFill/>
          <a:ln w="0">
            <a:noFill/>
            <a:prstDash val="solid"/>
          </a:ln>
        </p:spPr>
        <p:txBody>
          <a:bodyPr/>
          <a:lstStyle/>
          <a:p>
            <a:pPr>
              <a:defRPr sz="1200">
                <a:solidFill>
                  <a:srgbClr val="006C48"/>
                </a:solidFill>
              </a:defRPr>
            </a:pPr>
            <a:r>
              <a:rPr sz="1200">
                <a:solidFill>
                  <a:srgbClr val="006C48"/>
                </a:solidFill>
              </a:rPr>
              <a:t>purchase chance after cart visit</a:t>
            </a:r>
          </a:p>
        </p:txBody>
      </p:sp>
      <p:sp>
        <p:nvSpPr>
          <p:cNvPr id="33" name="Rectangle 32">
            <a:extLst>
              <a:ext uri="{FF2B5EF4-FFF2-40B4-BE49-F238E27FC236}">
                <a16:creationId xmlns:a16="http://schemas.microsoft.com/office/drawing/2014/main" id="{70CECD72-0947-4CC8-9FF0-30FE655B3526}"/>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34" name="Rectangle 33">
            <a:extLst>
              <a:ext uri="{FF2B5EF4-FFF2-40B4-BE49-F238E27FC236}">
                <a16:creationId xmlns:a16="http://schemas.microsoft.com/office/drawing/2014/main" id="{F7AD6E0A-BEEB-42B7-960E-12488A0B69EE}"/>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2/18</a:t>
            </a:r>
          </a:p>
        </p:txBody>
      </p:sp>
    </p:spTree>
    <p:extLst>
      <p:ext uri="{BB962C8B-B14F-4D97-AF65-F5344CB8AC3E}">
        <p14:creationId xmlns:p14="http://schemas.microsoft.com/office/powerpoint/2010/main" val="1793204240"/>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EF7ACD-26C8-4BAA-A93D-87DF74EE3C6F}"/>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lang="en-GB" sz="975" b="1" dirty="0">
                <a:solidFill>
                  <a:srgbClr val="E4003A"/>
                </a:solidFill>
              </a:rPr>
              <a:t>CURRENT ONBOARDING</a:t>
            </a:r>
            <a:endParaRPr sz="975" b="1" dirty="0">
              <a:solidFill>
                <a:srgbClr val="E4003A"/>
              </a:solidFill>
            </a:endParaRPr>
          </a:p>
        </p:txBody>
      </p:sp>
      <p:sp>
        <p:nvSpPr>
          <p:cNvPr id="2" name="Rectangle 1">
            <a:extLst>
              <a:ext uri="{FF2B5EF4-FFF2-40B4-BE49-F238E27FC236}">
                <a16:creationId xmlns:a16="http://schemas.microsoft.com/office/drawing/2014/main" id="{FAA7EF6B-217E-4047-9C7A-3309B22A06F6}"/>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lang="en-US" sz="3150" b="1" dirty="0">
                <a:solidFill>
                  <a:srgbClr val="1B1C1B"/>
                </a:solidFill>
              </a:rPr>
              <a:t>How many steps does our user take until he arrives at the home page</a:t>
            </a:r>
            <a:endParaRPr sz="3150" b="1" dirty="0">
              <a:solidFill>
                <a:srgbClr val="1B1C1B"/>
              </a:solidFill>
            </a:endParaRPr>
          </a:p>
        </p:txBody>
      </p:sp>
      <p:sp>
        <p:nvSpPr>
          <p:cNvPr id="3" name="Rectangle 2">
            <a:extLst>
              <a:ext uri="{FF2B5EF4-FFF2-40B4-BE49-F238E27FC236}">
                <a16:creationId xmlns:a16="http://schemas.microsoft.com/office/drawing/2014/main" id="{8D76130F-3AF6-46D5-9AE3-806CB8CB0F4E}"/>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sz="1425" dirty="0">
                <a:solidFill>
                  <a:srgbClr val="645E5C"/>
                </a:solidFill>
              </a:rPr>
              <a:t>The</a:t>
            </a:r>
            <a:r>
              <a:rPr lang="en-US" sz="1425" dirty="0">
                <a:solidFill>
                  <a:srgbClr val="645E5C"/>
                </a:solidFill>
              </a:rPr>
              <a:t>se </a:t>
            </a:r>
            <a:r>
              <a:rPr sz="1425" dirty="0">
                <a:solidFill>
                  <a:srgbClr val="645E5C"/>
                </a:solidFill>
              </a:rPr>
              <a:t>screenshots show </a:t>
            </a:r>
            <a:r>
              <a:rPr lang="en-US" sz="1425" dirty="0">
                <a:solidFill>
                  <a:srgbClr val="645E5C"/>
                </a:solidFill>
              </a:rPr>
              <a:t>our app </a:t>
            </a:r>
            <a:r>
              <a:rPr sz="1425" dirty="0">
                <a:solidFill>
                  <a:srgbClr val="645E5C"/>
                </a:solidFill>
              </a:rPr>
              <a:t>already has the right strategic direction</a:t>
            </a:r>
            <a:r>
              <a:rPr lang="en-US" sz="1425" dirty="0">
                <a:solidFill>
                  <a:srgbClr val="645E5C"/>
                </a:solidFill>
              </a:rPr>
              <a:t> on the intent split but we need to pay attention to </a:t>
            </a:r>
            <a:r>
              <a:rPr sz="1425" dirty="0">
                <a:solidFill>
                  <a:srgbClr val="645E5C"/>
                </a:solidFill>
              </a:rPr>
              <a:t>sequencing.</a:t>
            </a:r>
          </a:p>
        </p:txBody>
      </p:sp>
      <p:pic>
        <p:nvPicPr>
          <p:cNvPr id="23" name="Picture 22"/>
          <p:cNvPicPr>
            <a:picLocks noChangeAspect="1"/>
          </p:cNvPicPr>
          <p:nvPr/>
        </p:nvPicPr>
        <p:blipFill>
          <a:blip r:embed="rId3"/>
          <a:stretch/>
        </p:blipFill>
        <p:spPr>
          <a:xfrm>
            <a:off x="534806" y="2590800"/>
            <a:ext cx="1454513" cy="3162300"/>
          </a:xfrm>
          <a:prstGeom prst="roundRect">
            <a:avLst>
              <a:gd name="adj" fmla="val 10458"/>
            </a:avLst>
          </a:prstGeom>
        </p:spPr>
      </p:pic>
      <p:sp>
        <p:nvSpPr>
          <p:cNvPr id="5" name="Rectangle 4">
            <a:extLst>
              <a:ext uri="{FF2B5EF4-FFF2-40B4-BE49-F238E27FC236}">
                <a16:creationId xmlns:a16="http://schemas.microsoft.com/office/drawing/2014/main" id="{A328D752-7CAF-4C01-B10D-D15F68F9AE02}"/>
              </a:ext>
            </a:extLst>
          </p:cNvPr>
          <p:cNvSpPr>
            <a:spLocks noGrp="1"/>
          </p:cNvSpPr>
          <p:nvPr/>
        </p:nvSpPr>
        <p:spPr>
          <a:xfrm>
            <a:off x="476250" y="5905500"/>
            <a:ext cx="1562100" cy="228600"/>
          </a:xfrm>
          <a:prstGeom prst="rect">
            <a:avLst/>
          </a:prstGeom>
          <a:noFill/>
          <a:ln w="0">
            <a:noFill/>
            <a:prstDash val="solid"/>
          </a:ln>
        </p:spPr>
        <p:txBody>
          <a:bodyPr/>
          <a:lstStyle/>
          <a:p>
            <a:pPr algn="ctr">
              <a:defRPr sz="1200" b="1">
                <a:solidFill>
                  <a:srgbClr val="1B1C1B"/>
                </a:solidFill>
              </a:defRPr>
            </a:pPr>
            <a:r>
              <a:rPr sz="1200" b="1">
                <a:solidFill>
                  <a:srgbClr val="1B1C1B"/>
                </a:solidFill>
              </a:rPr>
              <a:t>Consent</a:t>
            </a:r>
          </a:p>
        </p:txBody>
      </p:sp>
      <p:pic>
        <p:nvPicPr>
          <p:cNvPr id="25" name="Picture 24"/>
          <p:cNvPicPr>
            <a:picLocks noChangeAspect="1"/>
          </p:cNvPicPr>
          <p:nvPr/>
        </p:nvPicPr>
        <p:blipFill>
          <a:blip r:embed="rId4"/>
          <a:stretch/>
        </p:blipFill>
        <p:spPr>
          <a:xfrm>
            <a:off x="2420756" y="2590800"/>
            <a:ext cx="1454513" cy="3162300"/>
          </a:xfrm>
          <a:prstGeom prst="roundRect">
            <a:avLst>
              <a:gd name="adj" fmla="val 10458"/>
            </a:avLst>
          </a:prstGeom>
        </p:spPr>
      </p:pic>
      <p:sp>
        <p:nvSpPr>
          <p:cNvPr id="7" name="Rectangle 6">
            <a:extLst>
              <a:ext uri="{FF2B5EF4-FFF2-40B4-BE49-F238E27FC236}">
                <a16:creationId xmlns:a16="http://schemas.microsoft.com/office/drawing/2014/main" id="{B88C6A32-8A65-498B-BB74-7B469156C68C}"/>
              </a:ext>
            </a:extLst>
          </p:cNvPr>
          <p:cNvSpPr>
            <a:spLocks noGrp="1"/>
          </p:cNvSpPr>
          <p:nvPr/>
        </p:nvSpPr>
        <p:spPr>
          <a:xfrm>
            <a:off x="2362200" y="5905500"/>
            <a:ext cx="1562100" cy="228600"/>
          </a:xfrm>
          <a:prstGeom prst="rect">
            <a:avLst/>
          </a:prstGeom>
          <a:noFill/>
          <a:ln w="0">
            <a:noFill/>
            <a:prstDash val="solid"/>
          </a:ln>
        </p:spPr>
        <p:txBody>
          <a:bodyPr/>
          <a:lstStyle/>
          <a:p>
            <a:pPr algn="ctr">
              <a:defRPr sz="1200" b="1">
                <a:solidFill>
                  <a:srgbClr val="1B1C1B"/>
                </a:solidFill>
              </a:defRPr>
            </a:pPr>
            <a:r>
              <a:rPr sz="1200" b="1" dirty="0">
                <a:solidFill>
                  <a:srgbClr val="E4003A"/>
                </a:solidFill>
              </a:rPr>
              <a:t>Account</a:t>
            </a:r>
            <a:r>
              <a:rPr sz="1200" b="1" dirty="0">
                <a:solidFill>
                  <a:srgbClr val="C00000"/>
                </a:solidFill>
              </a:rPr>
              <a:t> </a:t>
            </a:r>
            <a:r>
              <a:rPr sz="1200" b="1" dirty="0">
                <a:solidFill>
                  <a:srgbClr val="E4003A"/>
                </a:solidFill>
              </a:rPr>
              <a:t>choice</a:t>
            </a:r>
          </a:p>
        </p:txBody>
      </p:sp>
      <p:pic>
        <p:nvPicPr>
          <p:cNvPr id="27" name="Picture 26"/>
          <p:cNvPicPr>
            <a:picLocks noChangeAspect="1"/>
          </p:cNvPicPr>
          <p:nvPr/>
        </p:nvPicPr>
        <p:blipFill>
          <a:blip r:embed="rId5"/>
          <a:stretch/>
        </p:blipFill>
        <p:spPr>
          <a:xfrm>
            <a:off x="4306706" y="2590800"/>
            <a:ext cx="1454513" cy="3162300"/>
          </a:xfrm>
          <a:prstGeom prst="roundRect">
            <a:avLst>
              <a:gd name="adj" fmla="val 10458"/>
            </a:avLst>
          </a:prstGeom>
        </p:spPr>
      </p:pic>
      <p:sp>
        <p:nvSpPr>
          <p:cNvPr id="9" name="Rectangle 8">
            <a:extLst>
              <a:ext uri="{FF2B5EF4-FFF2-40B4-BE49-F238E27FC236}">
                <a16:creationId xmlns:a16="http://schemas.microsoft.com/office/drawing/2014/main" id="{D1A49078-474F-4270-AFAE-8D8328618C93}"/>
              </a:ext>
            </a:extLst>
          </p:cNvPr>
          <p:cNvSpPr>
            <a:spLocks noGrp="1"/>
          </p:cNvSpPr>
          <p:nvPr/>
        </p:nvSpPr>
        <p:spPr>
          <a:xfrm>
            <a:off x="4248150" y="5905500"/>
            <a:ext cx="1562100" cy="228600"/>
          </a:xfrm>
          <a:prstGeom prst="rect">
            <a:avLst/>
          </a:prstGeom>
          <a:noFill/>
          <a:ln w="0">
            <a:noFill/>
            <a:prstDash val="solid"/>
          </a:ln>
        </p:spPr>
        <p:txBody>
          <a:bodyPr/>
          <a:lstStyle/>
          <a:p>
            <a:pPr algn="ctr">
              <a:defRPr sz="1200" b="1">
                <a:solidFill>
                  <a:srgbClr val="1B1C1B"/>
                </a:solidFill>
              </a:defRPr>
            </a:pPr>
            <a:r>
              <a:rPr sz="1200" b="1" dirty="0">
                <a:solidFill>
                  <a:srgbClr val="E4003A"/>
                </a:solidFill>
              </a:rPr>
              <a:t>Login</a:t>
            </a:r>
            <a:r>
              <a:rPr sz="1200" b="1" dirty="0">
                <a:solidFill>
                  <a:srgbClr val="C00000"/>
                </a:solidFill>
              </a:rPr>
              <a:t> </a:t>
            </a:r>
            <a:r>
              <a:rPr sz="1200" b="1" dirty="0">
                <a:solidFill>
                  <a:srgbClr val="E4003A"/>
                </a:solidFill>
              </a:rPr>
              <a:t>path</a:t>
            </a:r>
          </a:p>
        </p:txBody>
      </p:sp>
      <p:pic>
        <p:nvPicPr>
          <p:cNvPr id="29" name="Picture 28"/>
          <p:cNvPicPr>
            <a:picLocks noChangeAspect="1"/>
          </p:cNvPicPr>
          <p:nvPr/>
        </p:nvPicPr>
        <p:blipFill>
          <a:blip r:embed="rId6"/>
          <a:stretch/>
        </p:blipFill>
        <p:spPr>
          <a:xfrm>
            <a:off x="6192656" y="2590800"/>
            <a:ext cx="1454513" cy="3162300"/>
          </a:xfrm>
          <a:prstGeom prst="roundRect">
            <a:avLst>
              <a:gd name="adj" fmla="val 10458"/>
            </a:avLst>
          </a:prstGeom>
        </p:spPr>
      </p:pic>
      <p:sp>
        <p:nvSpPr>
          <p:cNvPr id="11" name="Rectangle 10">
            <a:extLst>
              <a:ext uri="{FF2B5EF4-FFF2-40B4-BE49-F238E27FC236}">
                <a16:creationId xmlns:a16="http://schemas.microsoft.com/office/drawing/2014/main" id="{EC5A0D27-91F8-4BD6-808C-D538FB1050C5}"/>
              </a:ext>
            </a:extLst>
          </p:cNvPr>
          <p:cNvSpPr>
            <a:spLocks noGrp="1"/>
          </p:cNvSpPr>
          <p:nvPr/>
        </p:nvSpPr>
        <p:spPr>
          <a:xfrm>
            <a:off x="6134100" y="5905500"/>
            <a:ext cx="1562100" cy="228600"/>
          </a:xfrm>
          <a:prstGeom prst="rect">
            <a:avLst/>
          </a:prstGeom>
          <a:noFill/>
          <a:ln w="0">
            <a:noFill/>
            <a:prstDash val="solid"/>
          </a:ln>
        </p:spPr>
        <p:txBody>
          <a:bodyPr/>
          <a:lstStyle/>
          <a:p>
            <a:pPr algn="ctr">
              <a:defRPr sz="1200" b="1">
                <a:solidFill>
                  <a:srgbClr val="E4003A"/>
                </a:solidFill>
              </a:defRPr>
            </a:pPr>
            <a:r>
              <a:rPr sz="1200" b="1" dirty="0">
                <a:solidFill>
                  <a:srgbClr val="E4003A"/>
                </a:solidFill>
              </a:rPr>
              <a:t>Push ask</a:t>
            </a:r>
          </a:p>
        </p:txBody>
      </p:sp>
      <p:pic>
        <p:nvPicPr>
          <p:cNvPr id="31" name="Picture 30"/>
          <p:cNvPicPr>
            <a:picLocks noChangeAspect="1"/>
          </p:cNvPicPr>
          <p:nvPr/>
        </p:nvPicPr>
        <p:blipFill>
          <a:blip r:embed="rId7"/>
          <a:stretch/>
        </p:blipFill>
        <p:spPr>
          <a:xfrm>
            <a:off x="8078606" y="2590800"/>
            <a:ext cx="1454513" cy="3162300"/>
          </a:xfrm>
          <a:prstGeom prst="roundRect">
            <a:avLst>
              <a:gd name="adj" fmla="val 10458"/>
            </a:avLst>
          </a:prstGeom>
        </p:spPr>
      </p:pic>
      <p:sp>
        <p:nvSpPr>
          <p:cNvPr id="13" name="Rectangle 12">
            <a:extLst>
              <a:ext uri="{FF2B5EF4-FFF2-40B4-BE49-F238E27FC236}">
                <a16:creationId xmlns:a16="http://schemas.microsoft.com/office/drawing/2014/main" id="{91FCAFAB-24F6-4A99-89B6-79CB11F71806}"/>
              </a:ext>
            </a:extLst>
          </p:cNvPr>
          <p:cNvSpPr>
            <a:spLocks noGrp="1"/>
          </p:cNvSpPr>
          <p:nvPr/>
        </p:nvSpPr>
        <p:spPr>
          <a:xfrm>
            <a:off x="8020050" y="5905500"/>
            <a:ext cx="1562100" cy="228600"/>
          </a:xfrm>
          <a:prstGeom prst="rect">
            <a:avLst/>
          </a:prstGeom>
          <a:noFill/>
          <a:ln w="0">
            <a:noFill/>
            <a:prstDash val="solid"/>
          </a:ln>
        </p:spPr>
        <p:txBody>
          <a:bodyPr/>
          <a:lstStyle/>
          <a:p>
            <a:pPr algn="ctr">
              <a:defRPr sz="1200" b="1">
                <a:solidFill>
                  <a:srgbClr val="E4003A"/>
                </a:solidFill>
              </a:defRPr>
            </a:pPr>
            <a:r>
              <a:rPr sz="1200" b="1">
                <a:solidFill>
                  <a:srgbClr val="E4003A"/>
                </a:solidFill>
              </a:rPr>
              <a:t>RedPoints</a:t>
            </a:r>
          </a:p>
        </p:txBody>
      </p:sp>
      <p:pic>
        <p:nvPicPr>
          <p:cNvPr id="33" name="Picture 32"/>
          <p:cNvPicPr>
            <a:picLocks noChangeAspect="1"/>
          </p:cNvPicPr>
          <p:nvPr/>
        </p:nvPicPr>
        <p:blipFill>
          <a:blip r:embed="rId8"/>
          <a:stretch/>
        </p:blipFill>
        <p:spPr>
          <a:xfrm>
            <a:off x="9964556" y="2590800"/>
            <a:ext cx="1454513" cy="3162300"/>
          </a:xfrm>
          <a:prstGeom prst="roundRect">
            <a:avLst>
              <a:gd name="adj" fmla="val 10458"/>
            </a:avLst>
          </a:prstGeom>
        </p:spPr>
      </p:pic>
      <p:sp>
        <p:nvSpPr>
          <p:cNvPr id="15" name="Rectangle 14">
            <a:extLst>
              <a:ext uri="{FF2B5EF4-FFF2-40B4-BE49-F238E27FC236}">
                <a16:creationId xmlns:a16="http://schemas.microsoft.com/office/drawing/2014/main" id="{1C3F385F-B2C3-444F-B241-BF6A0FBA3E4A}"/>
              </a:ext>
            </a:extLst>
          </p:cNvPr>
          <p:cNvSpPr>
            <a:spLocks noGrp="1"/>
          </p:cNvSpPr>
          <p:nvPr/>
        </p:nvSpPr>
        <p:spPr>
          <a:xfrm>
            <a:off x="9906000" y="5905500"/>
            <a:ext cx="1562100" cy="228600"/>
          </a:xfrm>
          <a:prstGeom prst="rect">
            <a:avLst/>
          </a:prstGeom>
          <a:noFill/>
          <a:ln w="0">
            <a:noFill/>
            <a:prstDash val="solid"/>
          </a:ln>
        </p:spPr>
        <p:txBody>
          <a:bodyPr/>
          <a:lstStyle/>
          <a:p>
            <a:pPr algn="ctr">
              <a:defRPr sz="1200" b="1">
                <a:solidFill>
                  <a:srgbClr val="1B1C1B"/>
                </a:solidFill>
              </a:defRPr>
            </a:pPr>
            <a:r>
              <a:rPr sz="1200" b="1">
                <a:solidFill>
                  <a:srgbClr val="1B1C1B"/>
                </a:solidFill>
              </a:rPr>
              <a:t>Intent split</a:t>
            </a:r>
          </a:p>
        </p:txBody>
      </p:sp>
      <p:sp>
        <p:nvSpPr>
          <p:cNvPr id="18" name="Rectangle 17">
            <a:extLst>
              <a:ext uri="{FF2B5EF4-FFF2-40B4-BE49-F238E27FC236}">
                <a16:creationId xmlns:a16="http://schemas.microsoft.com/office/drawing/2014/main" id="{1B27B090-0839-4ECE-B84F-D9ED00F25399}"/>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9" name="Rectangle 18">
            <a:extLst>
              <a:ext uri="{FF2B5EF4-FFF2-40B4-BE49-F238E27FC236}">
                <a16:creationId xmlns:a16="http://schemas.microsoft.com/office/drawing/2014/main" id="{7BBBA8E0-0B3B-4C29-AC96-482D4B795DB6}"/>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3/18</a:t>
            </a:r>
          </a:p>
        </p:txBody>
      </p:sp>
    </p:spTree>
    <p:extLst>
      <p:ext uri="{BB962C8B-B14F-4D97-AF65-F5344CB8AC3E}">
        <p14:creationId xmlns:p14="http://schemas.microsoft.com/office/powerpoint/2010/main" val="425953988"/>
      </p:ext>
    </p:extLst>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1A79D-39DE-4408-BBAC-B32ED540FD1F}"/>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sz="975" b="1" dirty="0">
                <a:solidFill>
                  <a:srgbClr val="E4003A"/>
                </a:solidFill>
              </a:rPr>
              <a:t>GUEST </a:t>
            </a:r>
            <a:r>
              <a:rPr lang="en-US" sz="975" b="1" dirty="0">
                <a:solidFill>
                  <a:srgbClr val="E4003A"/>
                </a:solidFill>
              </a:rPr>
              <a:t>ONBOARDING</a:t>
            </a:r>
            <a:endParaRPr sz="975" b="1" dirty="0">
              <a:solidFill>
                <a:srgbClr val="E4003A"/>
              </a:solidFill>
            </a:endParaRPr>
          </a:p>
        </p:txBody>
      </p:sp>
      <p:sp>
        <p:nvSpPr>
          <p:cNvPr id="2" name="Rectangle 1">
            <a:extLst>
              <a:ext uri="{FF2B5EF4-FFF2-40B4-BE49-F238E27FC236}">
                <a16:creationId xmlns:a16="http://schemas.microsoft.com/office/drawing/2014/main" id="{48A5118F-EF0D-462D-A78C-BF798D50EA70}"/>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sz="3150" b="1" dirty="0">
                <a:solidFill>
                  <a:srgbClr val="1B1C1B"/>
                </a:solidFill>
              </a:rPr>
              <a:t>Guests reach Home, but </a:t>
            </a:r>
            <a:r>
              <a:rPr lang="en-US" sz="3150" b="1" dirty="0">
                <a:solidFill>
                  <a:srgbClr val="1B1C1B"/>
                </a:solidFill>
              </a:rPr>
              <a:t>not before confirming they’re a guest</a:t>
            </a:r>
            <a:endParaRPr sz="3150" b="1" dirty="0">
              <a:solidFill>
                <a:srgbClr val="1B1C1B"/>
              </a:solidFill>
            </a:endParaRPr>
          </a:p>
        </p:txBody>
      </p:sp>
      <p:sp>
        <p:nvSpPr>
          <p:cNvPr id="3" name="Rectangle 2">
            <a:extLst>
              <a:ext uri="{FF2B5EF4-FFF2-40B4-BE49-F238E27FC236}">
                <a16:creationId xmlns:a16="http://schemas.microsoft.com/office/drawing/2014/main" id="{E5330848-E408-4B58-9A06-6F96743C7CEA}"/>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lang="en-US" sz="1425" dirty="0">
                <a:solidFill>
                  <a:srgbClr val="645E5C"/>
                </a:solidFill>
              </a:rPr>
              <a:t>Login blocker and push notifications blocker are presented to the guest without context or semantic meaning.</a:t>
            </a:r>
            <a:endParaRPr sz="1425" dirty="0">
              <a:solidFill>
                <a:srgbClr val="645E5C"/>
              </a:solidFill>
            </a:endParaRPr>
          </a:p>
        </p:txBody>
      </p:sp>
      <p:pic>
        <p:nvPicPr>
          <p:cNvPr id="19" name="Picture 18"/>
          <p:cNvPicPr>
            <a:picLocks noChangeAspect="1"/>
          </p:cNvPicPr>
          <p:nvPr/>
        </p:nvPicPr>
        <p:blipFill>
          <a:blip r:embed="rId3"/>
          <a:stretch/>
        </p:blipFill>
        <p:spPr>
          <a:xfrm>
            <a:off x="897900" y="2667000"/>
            <a:ext cx="1480800" cy="3219450"/>
          </a:xfrm>
          <a:prstGeom prst="roundRect">
            <a:avLst>
              <a:gd name="adj" fmla="val 10256"/>
            </a:avLst>
          </a:prstGeom>
        </p:spPr>
      </p:pic>
      <p:sp>
        <p:nvSpPr>
          <p:cNvPr id="5" name="Rectangle 4">
            <a:extLst>
              <a:ext uri="{FF2B5EF4-FFF2-40B4-BE49-F238E27FC236}">
                <a16:creationId xmlns:a16="http://schemas.microsoft.com/office/drawing/2014/main" id="{C12FC26A-6996-47FD-8C2B-E9519CC1BA24}"/>
              </a:ext>
            </a:extLst>
          </p:cNvPr>
          <p:cNvSpPr>
            <a:spLocks noGrp="1"/>
          </p:cNvSpPr>
          <p:nvPr/>
        </p:nvSpPr>
        <p:spPr>
          <a:xfrm>
            <a:off x="762000" y="6019800"/>
            <a:ext cx="1714500" cy="228600"/>
          </a:xfrm>
          <a:prstGeom prst="rect">
            <a:avLst/>
          </a:prstGeom>
          <a:noFill/>
          <a:ln w="0">
            <a:noFill/>
            <a:prstDash val="solid"/>
          </a:ln>
        </p:spPr>
        <p:txBody>
          <a:bodyPr/>
          <a:lstStyle/>
          <a:p>
            <a:pPr algn="ctr">
              <a:defRPr sz="1125" b="1">
                <a:solidFill>
                  <a:srgbClr val="1B1C1B"/>
                </a:solidFill>
              </a:defRPr>
            </a:pPr>
            <a:r>
              <a:rPr sz="1125" b="1" dirty="0">
                <a:solidFill>
                  <a:srgbClr val="E4003A"/>
                </a:solidFill>
              </a:rPr>
              <a:t>Account</a:t>
            </a:r>
            <a:r>
              <a:rPr sz="1125" b="1" dirty="0">
                <a:solidFill>
                  <a:srgbClr val="1B1C1B"/>
                </a:solidFill>
              </a:rPr>
              <a:t> </a:t>
            </a:r>
            <a:r>
              <a:rPr sz="1125" b="1" dirty="0">
                <a:solidFill>
                  <a:srgbClr val="E4003A"/>
                </a:solidFill>
              </a:rPr>
              <a:t>choice</a:t>
            </a:r>
          </a:p>
        </p:txBody>
      </p:sp>
      <p:pic>
        <p:nvPicPr>
          <p:cNvPr id="21" name="Picture 20"/>
          <p:cNvPicPr>
            <a:picLocks noChangeAspect="1"/>
          </p:cNvPicPr>
          <p:nvPr/>
        </p:nvPicPr>
        <p:blipFill>
          <a:blip r:embed="rId4"/>
          <a:stretch/>
        </p:blipFill>
        <p:spPr>
          <a:xfrm>
            <a:off x="3714213" y="2667000"/>
            <a:ext cx="1480800" cy="3219450"/>
          </a:xfrm>
          <a:prstGeom prst="roundRect">
            <a:avLst>
              <a:gd name="adj" fmla="val 10256"/>
            </a:avLst>
          </a:prstGeom>
        </p:spPr>
      </p:pic>
      <p:sp>
        <p:nvSpPr>
          <p:cNvPr id="7" name="Rectangle 6">
            <a:extLst>
              <a:ext uri="{FF2B5EF4-FFF2-40B4-BE49-F238E27FC236}">
                <a16:creationId xmlns:a16="http://schemas.microsoft.com/office/drawing/2014/main" id="{AC14D9B6-3750-4B1F-83FE-C9E1A3E6C4BE}"/>
              </a:ext>
            </a:extLst>
          </p:cNvPr>
          <p:cNvSpPr>
            <a:spLocks noGrp="1"/>
          </p:cNvSpPr>
          <p:nvPr/>
        </p:nvSpPr>
        <p:spPr>
          <a:xfrm>
            <a:off x="3578313" y="6019800"/>
            <a:ext cx="1714500" cy="228600"/>
          </a:xfrm>
          <a:prstGeom prst="rect">
            <a:avLst/>
          </a:prstGeom>
          <a:noFill/>
          <a:ln w="0">
            <a:noFill/>
            <a:prstDash val="solid"/>
          </a:ln>
        </p:spPr>
        <p:txBody>
          <a:bodyPr/>
          <a:lstStyle/>
          <a:p>
            <a:pPr algn="ctr">
              <a:defRPr sz="1125" b="1">
                <a:solidFill>
                  <a:srgbClr val="E4003A"/>
                </a:solidFill>
              </a:defRPr>
            </a:pPr>
            <a:r>
              <a:rPr sz="1125" b="1" dirty="0">
                <a:solidFill>
                  <a:srgbClr val="E4003A"/>
                </a:solidFill>
              </a:rPr>
              <a:t>Push ask</a:t>
            </a:r>
          </a:p>
        </p:txBody>
      </p:sp>
      <p:pic>
        <p:nvPicPr>
          <p:cNvPr id="23" name="Picture 22"/>
          <p:cNvPicPr>
            <a:picLocks noChangeAspect="1"/>
          </p:cNvPicPr>
          <p:nvPr/>
        </p:nvPicPr>
        <p:blipFill>
          <a:blip r:embed="rId5"/>
          <a:stretch/>
        </p:blipFill>
        <p:spPr>
          <a:xfrm>
            <a:off x="6382241" y="2667000"/>
            <a:ext cx="1480800" cy="3219450"/>
          </a:xfrm>
          <a:prstGeom prst="roundRect">
            <a:avLst>
              <a:gd name="adj" fmla="val 10256"/>
            </a:avLst>
          </a:prstGeom>
        </p:spPr>
      </p:pic>
      <p:sp>
        <p:nvSpPr>
          <p:cNvPr id="9" name="Rectangle 8">
            <a:extLst>
              <a:ext uri="{FF2B5EF4-FFF2-40B4-BE49-F238E27FC236}">
                <a16:creationId xmlns:a16="http://schemas.microsoft.com/office/drawing/2014/main" id="{24EBC386-893E-423B-9D89-115D27F6FED9}"/>
              </a:ext>
            </a:extLst>
          </p:cNvPr>
          <p:cNvSpPr>
            <a:spLocks noGrp="1"/>
          </p:cNvSpPr>
          <p:nvPr/>
        </p:nvSpPr>
        <p:spPr>
          <a:xfrm>
            <a:off x="6246341" y="6019800"/>
            <a:ext cx="1714500" cy="228600"/>
          </a:xfrm>
          <a:prstGeom prst="rect">
            <a:avLst/>
          </a:prstGeom>
          <a:noFill/>
          <a:ln w="0">
            <a:noFill/>
            <a:prstDash val="solid"/>
          </a:ln>
        </p:spPr>
        <p:txBody>
          <a:bodyPr/>
          <a:lstStyle/>
          <a:p>
            <a:pPr algn="ctr">
              <a:defRPr sz="1125" b="1">
                <a:solidFill>
                  <a:srgbClr val="1B1C1B"/>
                </a:solidFill>
              </a:defRPr>
            </a:pPr>
            <a:r>
              <a:rPr sz="1125" b="1">
                <a:solidFill>
                  <a:srgbClr val="1B1C1B"/>
                </a:solidFill>
              </a:rPr>
              <a:t>Intent split</a:t>
            </a:r>
          </a:p>
        </p:txBody>
      </p:sp>
      <p:pic>
        <p:nvPicPr>
          <p:cNvPr id="25" name="Picture 24"/>
          <p:cNvPicPr>
            <a:picLocks noChangeAspect="1"/>
          </p:cNvPicPr>
          <p:nvPr/>
        </p:nvPicPr>
        <p:blipFill>
          <a:blip r:embed="rId6"/>
          <a:stretch/>
        </p:blipFill>
        <p:spPr>
          <a:xfrm>
            <a:off x="9013200" y="2667000"/>
            <a:ext cx="1480800" cy="3219450"/>
          </a:xfrm>
          <a:prstGeom prst="roundRect">
            <a:avLst>
              <a:gd name="adj" fmla="val 10256"/>
            </a:avLst>
          </a:prstGeom>
        </p:spPr>
      </p:pic>
      <p:sp>
        <p:nvSpPr>
          <p:cNvPr id="11" name="Rectangle 10">
            <a:extLst>
              <a:ext uri="{FF2B5EF4-FFF2-40B4-BE49-F238E27FC236}">
                <a16:creationId xmlns:a16="http://schemas.microsoft.com/office/drawing/2014/main" id="{311089A4-037A-402E-8608-C8A5E22CD303}"/>
              </a:ext>
            </a:extLst>
          </p:cNvPr>
          <p:cNvSpPr>
            <a:spLocks noGrp="1"/>
          </p:cNvSpPr>
          <p:nvPr/>
        </p:nvSpPr>
        <p:spPr>
          <a:xfrm>
            <a:off x="8877300" y="6019800"/>
            <a:ext cx="1714500" cy="228600"/>
          </a:xfrm>
          <a:prstGeom prst="rect">
            <a:avLst/>
          </a:prstGeom>
          <a:noFill/>
          <a:ln w="0">
            <a:noFill/>
            <a:prstDash val="solid"/>
          </a:ln>
        </p:spPr>
        <p:txBody>
          <a:bodyPr/>
          <a:lstStyle/>
          <a:p>
            <a:pPr algn="ctr">
              <a:defRPr sz="1125" b="1">
                <a:solidFill>
                  <a:srgbClr val="006C48"/>
                </a:solidFill>
              </a:defRPr>
            </a:pPr>
            <a:r>
              <a:rPr sz="1125" b="1">
                <a:solidFill>
                  <a:srgbClr val="006C48"/>
                </a:solidFill>
              </a:rPr>
              <a:t>Discover range opens Home</a:t>
            </a:r>
          </a:p>
        </p:txBody>
      </p:sp>
      <p:sp>
        <p:nvSpPr>
          <p:cNvPr id="14" name="Rectangle 13">
            <a:extLst>
              <a:ext uri="{FF2B5EF4-FFF2-40B4-BE49-F238E27FC236}">
                <a16:creationId xmlns:a16="http://schemas.microsoft.com/office/drawing/2014/main" id="{4980664F-86DF-4309-AEAB-50F51011A33A}"/>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5" name="Rectangle 14">
            <a:extLst>
              <a:ext uri="{FF2B5EF4-FFF2-40B4-BE49-F238E27FC236}">
                <a16:creationId xmlns:a16="http://schemas.microsoft.com/office/drawing/2014/main" id="{BD25BE24-6995-4E20-8816-637962748955}"/>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4/18</a:t>
            </a:r>
          </a:p>
        </p:txBody>
      </p:sp>
    </p:spTree>
    <p:extLst>
      <p:ext uri="{BB962C8B-B14F-4D97-AF65-F5344CB8AC3E}">
        <p14:creationId xmlns:p14="http://schemas.microsoft.com/office/powerpoint/2010/main" val="699889844"/>
      </p:ext>
    </p:extLst>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7FA093-962D-42FF-A09A-76B35AD6B2CD}"/>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lang="en-US" sz="975" b="1" dirty="0">
                <a:solidFill>
                  <a:srgbClr val="E4003A"/>
                </a:solidFill>
              </a:rPr>
              <a:t>USER ONBOARDING</a:t>
            </a:r>
            <a:endParaRPr sz="975" b="1" dirty="0">
              <a:solidFill>
                <a:srgbClr val="E4003A"/>
              </a:solidFill>
            </a:endParaRPr>
          </a:p>
        </p:txBody>
      </p:sp>
      <p:sp>
        <p:nvSpPr>
          <p:cNvPr id="2" name="Rectangle 1">
            <a:extLst>
              <a:ext uri="{FF2B5EF4-FFF2-40B4-BE49-F238E27FC236}">
                <a16:creationId xmlns:a16="http://schemas.microsoft.com/office/drawing/2014/main" id="{26AFB948-929E-415A-8310-1106261C92E2}"/>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sz="3150" b="1">
                <a:solidFill>
                  <a:srgbClr val="1B1C1B"/>
                </a:solidFill>
              </a:rPr>
              <a:t>Returning users meet two prompts before their first useful destination</a:t>
            </a:r>
          </a:p>
        </p:txBody>
      </p:sp>
      <p:sp>
        <p:nvSpPr>
          <p:cNvPr id="3" name="Rectangle 2">
            <a:extLst>
              <a:ext uri="{FF2B5EF4-FFF2-40B4-BE49-F238E27FC236}">
                <a16:creationId xmlns:a16="http://schemas.microsoft.com/office/drawing/2014/main" id="{7AF94913-16D1-4687-81D1-8BE6116D8E71}"/>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sz="1425" dirty="0">
                <a:solidFill>
                  <a:srgbClr val="645E5C"/>
                </a:solidFill>
              </a:rPr>
              <a:t>For logged-in users, </a:t>
            </a:r>
            <a:r>
              <a:rPr lang="en-US" sz="1425" dirty="0">
                <a:solidFill>
                  <a:srgbClr val="645E5C"/>
                </a:solidFill>
              </a:rPr>
              <a:t>the issue remains form after form without any context. Onboarding feels like a questionnaire</a:t>
            </a:r>
            <a:endParaRPr sz="1425" dirty="0">
              <a:solidFill>
                <a:srgbClr val="645E5C"/>
              </a:solidFill>
            </a:endParaRPr>
          </a:p>
        </p:txBody>
      </p:sp>
      <p:pic>
        <p:nvPicPr>
          <p:cNvPr id="15" name="Picture 14"/>
          <p:cNvPicPr>
            <a:picLocks noChangeAspect="1"/>
          </p:cNvPicPr>
          <p:nvPr/>
        </p:nvPicPr>
        <p:blipFill>
          <a:blip r:embed="rId3"/>
          <a:stretch/>
        </p:blipFill>
        <p:spPr>
          <a:xfrm>
            <a:off x="2718210" y="2457450"/>
            <a:ext cx="1717377" cy="3733800"/>
          </a:xfrm>
          <a:prstGeom prst="roundRect">
            <a:avLst>
              <a:gd name="adj" fmla="val 8840"/>
            </a:avLst>
          </a:prstGeom>
        </p:spPr>
      </p:pic>
      <p:pic>
        <p:nvPicPr>
          <p:cNvPr id="16" name="Picture 15"/>
          <p:cNvPicPr>
            <a:picLocks noChangeAspect="1"/>
          </p:cNvPicPr>
          <p:nvPr/>
        </p:nvPicPr>
        <p:blipFill>
          <a:blip r:embed="rId4"/>
          <a:stretch/>
        </p:blipFill>
        <p:spPr>
          <a:xfrm>
            <a:off x="4870347" y="2457450"/>
            <a:ext cx="1717377" cy="3733800"/>
          </a:xfrm>
          <a:prstGeom prst="roundRect">
            <a:avLst>
              <a:gd name="adj" fmla="val 8840"/>
            </a:avLst>
          </a:prstGeom>
        </p:spPr>
      </p:pic>
      <p:pic>
        <p:nvPicPr>
          <p:cNvPr id="17" name="Picture 16"/>
          <p:cNvPicPr>
            <a:picLocks noChangeAspect="1"/>
          </p:cNvPicPr>
          <p:nvPr/>
        </p:nvPicPr>
        <p:blipFill>
          <a:blip r:embed="rId5"/>
          <a:stretch/>
        </p:blipFill>
        <p:spPr>
          <a:xfrm>
            <a:off x="7195474" y="2457450"/>
            <a:ext cx="1717377" cy="3733800"/>
          </a:xfrm>
          <a:prstGeom prst="roundRect">
            <a:avLst>
              <a:gd name="adj" fmla="val 8840"/>
            </a:avLst>
          </a:prstGeom>
        </p:spPr>
      </p:pic>
      <p:pic>
        <p:nvPicPr>
          <p:cNvPr id="18" name="Picture 17"/>
          <p:cNvPicPr>
            <a:picLocks noChangeAspect="1"/>
          </p:cNvPicPr>
          <p:nvPr/>
        </p:nvPicPr>
        <p:blipFill>
          <a:blip r:embed="rId6"/>
          <a:stretch/>
        </p:blipFill>
        <p:spPr>
          <a:xfrm>
            <a:off x="9347609" y="2457450"/>
            <a:ext cx="1717377" cy="3733800"/>
          </a:xfrm>
          <a:prstGeom prst="roundRect">
            <a:avLst>
              <a:gd name="adj" fmla="val 8840"/>
            </a:avLst>
          </a:prstGeom>
        </p:spPr>
      </p:pic>
      <p:sp>
        <p:nvSpPr>
          <p:cNvPr id="10" name="Rectangle 9">
            <a:extLst>
              <a:ext uri="{FF2B5EF4-FFF2-40B4-BE49-F238E27FC236}">
                <a16:creationId xmlns:a16="http://schemas.microsoft.com/office/drawing/2014/main" id="{CF0FC83C-EFF7-4E89-A9C8-F0DA027636CC}"/>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1" name="Rectangle 10">
            <a:extLst>
              <a:ext uri="{FF2B5EF4-FFF2-40B4-BE49-F238E27FC236}">
                <a16:creationId xmlns:a16="http://schemas.microsoft.com/office/drawing/2014/main" id="{6F3473D6-24DE-4EDB-A6E2-18697302C104}"/>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5/18</a:t>
            </a:r>
          </a:p>
        </p:txBody>
      </p:sp>
      <p:pic>
        <p:nvPicPr>
          <p:cNvPr id="5" name="Picture 4">
            <a:extLst>
              <a:ext uri="{FF2B5EF4-FFF2-40B4-BE49-F238E27FC236}">
                <a16:creationId xmlns:a16="http://schemas.microsoft.com/office/drawing/2014/main" id="{592F411C-E47C-D0FA-BAF5-A1F7FE5FD0C2}"/>
              </a:ext>
            </a:extLst>
          </p:cNvPr>
          <p:cNvPicPr>
            <a:picLocks noChangeAspect="1"/>
          </p:cNvPicPr>
          <p:nvPr/>
        </p:nvPicPr>
        <p:blipFill>
          <a:blip r:embed="rId7"/>
          <a:stretch/>
        </p:blipFill>
        <p:spPr>
          <a:xfrm>
            <a:off x="661323" y="2466025"/>
            <a:ext cx="1717377" cy="3733799"/>
          </a:xfrm>
          <a:prstGeom prst="roundRect">
            <a:avLst>
              <a:gd name="adj" fmla="val 10256"/>
            </a:avLst>
          </a:prstGeom>
        </p:spPr>
      </p:pic>
    </p:spTree>
    <p:extLst>
      <p:ext uri="{BB962C8B-B14F-4D97-AF65-F5344CB8AC3E}">
        <p14:creationId xmlns:p14="http://schemas.microsoft.com/office/powerpoint/2010/main" val="1401327045"/>
      </p:ext>
    </p:extLst>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8F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7FD0524-C0AE-45E2-AA5D-3C0FEA099580}"/>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lang="en-US" sz="975" b="1" dirty="0">
                <a:solidFill>
                  <a:srgbClr val="E4003A"/>
                </a:solidFill>
              </a:rPr>
              <a:t>SCREEN ANALYSIS</a:t>
            </a:r>
            <a:endParaRPr sz="975" b="1" dirty="0">
              <a:solidFill>
                <a:srgbClr val="E4003A"/>
              </a:solidFill>
            </a:endParaRPr>
          </a:p>
        </p:txBody>
      </p:sp>
      <p:sp>
        <p:nvSpPr>
          <p:cNvPr id="2" name="Rectangle 1">
            <a:extLst>
              <a:ext uri="{FF2B5EF4-FFF2-40B4-BE49-F238E27FC236}">
                <a16:creationId xmlns:a16="http://schemas.microsoft.com/office/drawing/2014/main" id="{BE90FF87-8C7B-40D3-84BF-9BAD280F8806}"/>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lang="en-GB" sz="3150" b="1" dirty="0" err="1"/>
              <a:t>RedPoints</a:t>
            </a:r>
            <a:r>
              <a:rPr lang="en-GB" sz="3150" b="1" dirty="0"/>
              <a:t> are a loyalty tool. They only become relevant with or after the first purchase.</a:t>
            </a:r>
            <a:endParaRPr sz="3150" b="1" dirty="0">
              <a:solidFill>
                <a:srgbClr val="1B1C1B"/>
              </a:solidFill>
            </a:endParaRPr>
          </a:p>
        </p:txBody>
      </p:sp>
      <p:sp>
        <p:nvSpPr>
          <p:cNvPr id="3" name="Rectangle 2">
            <a:extLst>
              <a:ext uri="{FF2B5EF4-FFF2-40B4-BE49-F238E27FC236}">
                <a16:creationId xmlns:a16="http://schemas.microsoft.com/office/drawing/2014/main" id="{3E8C63FE-C514-4ACA-8D6F-0A56BE8F3735}"/>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lang="en-GB" sz="1425" dirty="0"/>
              <a:t>There's currently no evidence that a </a:t>
            </a:r>
            <a:r>
              <a:rPr lang="en-GB" sz="1425" dirty="0" err="1"/>
              <a:t>RedPoints</a:t>
            </a:r>
            <a:r>
              <a:rPr lang="en-GB" sz="1425" dirty="0"/>
              <a:t> Opt-In before would increase conversion. The main objective for guests is to send them the </a:t>
            </a:r>
            <a:r>
              <a:rPr lang="en-GB" sz="1425" dirty="0" err="1"/>
              <a:t>RedPoints</a:t>
            </a:r>
            <a:r>
              <a:rPr lang="en-GB" sz="1425" dirty="0"/>
              <a:t> newsletter.</a:t>
            </a:r>
            <a:endParaRPr sz="1425" dirty="0">
              <a:solidFill>
                <a:srgbClr val="645E5C"/>
              </a:solidFill>
            </a:endParaRPr>
          </a:p>
        </p:txBody>
      </p:sp>
      <p:pic>
        <p:nvPicPr>
          <p:cNvPr id="22" name="Picture 21"/>
          <p:cNvPicPr>
            <a:picLocks noChangeAspect="1"/>
          </p:cNvPicPr>
          <p:nvPr/>
        </p:nvPicPr>
        <p:blipFill>
          <a:blip r:embed="rId3"/>
          <a:stretch/>
        </p:blipFill>
        <p:spPr>
          <a:xfrm>
            <a:off x="839443" y="2367450"/>
            <a:ext cx="1826739" cy="3971567"/>
          </a:xfrm>
          <a:prstGeom prst="roundRect">
            <a:avLst>
              <a:gd name="adj" fmla="val 7619"/>
            </a:avLst>
          </a:prstGeom>
        </p:spPr>
      </p:pic>
      <p:sp>
        <p:nvSpPr>
          <p:cNvPr id="5" name="Rounded Rectangle 4">
            <a:extLst>
              <a:ext uri="{FF2B5EF4-FFF2-40B4-BE49-F238E27FC236}">
                <a16:creationId xmlns:a16="http://schemas.microsoft.com/office/drawing/2014/main" id="{52651E63-0381-4E8C-B104-9CFF6E157726}"/>
              </a:ext>
            </a:extLst>
          </p:cNvPr>
          <p:cNvSpPr>
            <a:spLocks noGrp="1"/>
          </p:cNvSpPr>
          <p:nvPr/>
        </p:nvSpPr>
        <p:spPr>
          <a:xfrm>
            <a:off x="4762500" y="2705100"/>
            <a:ext cx="6019800" cy="3572132"/>
          </a:xfrm>
          <a:prstGeom prst="roundRect">
            <a:avLst>
              <a:gd name="adj" fmla="val 3371"/>
            </a:avLst>
          </a:prstGeom>
          <a:solidFill>
            <a:srgbClr val="FFFFFF"/>
          </a:solidFill>
          <a:ln w="9525">
            <a:solidFill>
              <a:srgbClr val="E9DEDA"/>
            </a:solidFill>
            <a:prstDash val="solid"/>
          </a:ln>
        </p:spPr>
        <p:style>
          <a:lnRef idx="0">
            <a:scrgbClr r="0" g="0" b="0"/>
          </a:lnRef>
          <a:fillRef idx="0">
            <a:scrgbClr r="0" g="0" b="0"/>
          </a:fillRef>
          <a:effectRef idx="4">
            <a:scrgbClr r="0" g="0" b="0"/>
          </a:effectRef>
          <a:fontRef idx="major"/>
        </p:style>
        <p:txBody>
          <a:bodyPr/>
          <a:lstStyle/>
          <a:p>
            <a:endParaRPr lang="en-DE"/>
          </a:p>
        </p:txBody>
      </p:sp>
      <p:sp>
        <p:nvSpPr>
          <p:cNvPr id="6" name="Rounded Rectangle 5">
            <a:extLst>
              <a:ext uri="{FF2B5EF4-FFF2-40B4-BE49-F238E27FC236}">
                <a16:creationId xmlns:a16="http://schemas.microsoft.com/office/drawing/2014/main" id="{4574D7D6-7049-4070-A547-216104E700A8}"/>
              </a:ext>
            </a:extLst>
          </p:cNvPr>
          <p:cNvSpPr>
            <a:spLocks noGrp="1"/>
          </p:cNvSpPr>
          <p:nvPr/>
        </p:nvSpPr>
        <p:spPr>
          <a:xfrm>
            <a:off x="5067300" y="3067050"/>
            <a:ext cx="2095500" cy="1076070"/>
          </a:xfrm>
          <a:prstGeom prst="roundRect">
            <a:avLst>
              <a:gd name="adj" fmla="val 12500"/>
            </a:avLst>
          </a:prstGeom>
          <a:solidFill>
            <a:srgbClr val="DDF3E6"/>
          </a:solidFill>
          <a:ln w="9525">
            <a:solidFill>
              <a:srgbClr val="E9DEDA"/>
            </a:solidFill>
            <a:prstDash val="solid"/>
          </a:ln>
        </p:spPr>
        <p:txBody>
          <a:bodyPr/>
          <a:lstStyle/>
          <a:p>
            <a:endParaRPr lang="en-DE"/>
          </a:p>
        </p:txBody>
      </p:sp>
      <p:sp>
        <p:nvSpPr>
          <p:cNvPr id="7" name="Rectangle 6">
            <a:extLst>
              <a:ext uri="{FF2B5EF4-FFF2-40B4-BE49-F238E27FC236}">
                <a16:creationId xmlns:a16="http://schemas.microsoft.com/office/drawing/2014/main" id="{70F55DEF-18F8-4DB0-8867-AE35161BA447}"/>
              </a:ext>
            </a:extLst>
          </p:cNvPr>
          <p:cNvSpPr>
            <a:spLocks noGrp="1"/>
          </p:cNvSpPr>
          <p:nvPr/>
        </p:nvSpPr>
        <p:spPr>
          <a:xfrm>
            <a:off x="5238750" y="3200400"/>
            <a:ext cx="1752600" cy="323850"/>
          </a:xfrm>
          <a:prstGeom prst="rect">
            <a:avLst/>
          </a:prstGeom>
          <a:noFill/>
          <a:ln w="0">
            <a:noFill/>
            <a:prstDash val="solid"/>
          </a:ln>
        </p:spPr>
        <p:txBody>
          <a:bodyPr/>
          <a:lstStyle/>
          <a:p>
            <a:pPr>
              <a:defRPr sz="2250" b="1">
                <a:solidFill>
                  <a:srgbClr val="006C48"/>
                </a:solidFill>
              </a:defRPr>
            </a:pPr>
            <a:r>
              <a:rPr sz="2250" b="1">
                <a:solidFill>
                  <a:srgbClr val="006C48"/>
                </a:solidFill>
              </a:rPr>
              <a:t>61%</a:t>
            </a:r>
          </a:p>
        </p:txBody>
      </p:sp>
      <p:sp>
        <p:nvSpPr>
          <p:cNvPr id="8" name="Rectangle 7">
            <a:extLst>
              <a:ext uri="{FF2B5EF4-FFF2-40B4-BE49-F238E27FC236}">
                <a16:creationId xmlns:a16="http://schemas.microsoft.com/office/drawing/2014/main" id="{3384BD4A-6CC0-43C2-B454-6EF64FD433FD}"/>
              </a:ext>
            </a:extLst>
          </p:cNvPr>
          <p:cNvSpPr>
            <a:spLocks noGrp="1"/>
          </p:cNvSpPr>
          <p:nvPr/>
        </p:nvSpPr>
        <p:spPr>
          <a:xfrm>
            <a:off x="5238750" y="3581400"/>
            <a:ext cx="1752600" cy="323850"/>
          </a:xfrm>
          <a:prstGeom prst="rect">
            <a:avLst/>
          </a:prstGeom>
          <a:noFill/>
          <a:ln w="0">
            <a:noFill/>
            <a:prstDash val="solid"/>
          </a:ln>
        </p:spPr>
        <p:txBody>
          <a:bodyPr/>
          <a:lstStyle/>
          <a:p>
            <a:pPr>
              <a:defRPr sz="1200">
                <a:solidFill>
                  <a:srgbClr val="006C48"/>
                </a:solidFill>
              </a:defRPr>
            </a:pPr>
            <a:r>
              <a:rPr sz="1200">
                <a:solidFill>
                  <a:srgbClr val="006C48"/>
                </a:solidFill>
              </a:rPr>
              <a:t>purchase chance after cart visit</a:t>
            </a:r>
          </a:p>
        </p:txBody>
      </p:sp>
      <p:sp>
        <p:nvSpPr>
          <p:cNvPr id="9" name="Rounded Rectangle 8">
            <a:extLst>
              <a:ext uri="{FF2B5EF4-FFF2-40B4-BE49-F238E27FC236}">
                <a16:creationId xmlns:a16="http://schemas.microsoft.com/office/drawing/2014/main" id="{8B290C41-9112-431E-A484-318E1B88EF29}"/>
              </a:ext>
            </a:extLst>
          </p:cNvPr>
          <p:cNvSpPr>
            <a:spLocks noGrp="1"/>
          </p:cNvSpPr>
          <p:nvPr/>
        </p:nvSpPr>
        <p:spPr>
          <a:xfrm>
            <a:off x="7448550" y="3067050"/>
            <a:ext cx="2095500" cy="1076070"/>
          </a:xfrm>
          <a:prstGeom prst="roundRect">
            <a:avLst>
              <a:gd name="adj" fmla="val 12500"/>
            </a:avLst>
          </a:prstGeom>
          <a:solidFill>
            <a:srgbClr val="DDF3E6"/>
          </a:solidFill>
          <a:ln w="9525">
            <a:solidFill>
              <a:srgbClr val="E9DEDA"/>
            </a:solidFill>
            <a:prstDash val="solid"/>
          </a:ln>
        </p:spPr>
        <p:txBody>
          <a:bodyPr/>
          <a:lstStyle/>
          <a:p>
            <a:endParaRPr lang="en-DE"/>
          </a:p>
        </p:txBody>
      </p:sp>
      <p:sp>
        <p:nvSpPr>
          <p:cNvPr id="10" name="Rectangle 9">
            <a:extLst>
              <a:ext uri="{FF2B5EF4-FFF2-40B4-BE49-F238E27FC236}">
                <a16:creationId xmlns:a16="http://schemas.microsoft.com/office/drawing/2014/main" id="{3329E5FA-0331-484F-8233-B6E13C2DD98B}"/>
              </a:ext>
            </a:extLst>
          </p:cNvPr>
          <p:cNvSpPr>
            <a:spLocks noGrp="1"/>
          </p:cNvSpPr>
          <p:nvPr/>
        </p:nvSpPr>
        <p:spPr>
          <a:xfrm>
            <a:off x="7620000" y="3200400"/>
            <a:ext cx="1752600" cy="323850"/>
          </a:xfrm>
          <a:prstGeom prst="rect">
            <a:avLst/>
          </a:prstGeom>
          <a:noFill/>
          <a:ln w="0">
            <a:noFill/>
            <a:prstDash val="solid"/>
          </a:ln>
        </p:spPr>
        <p:txBody>
          <a:bodyPr/>
          <a:lstStyle/>
          <a:p>
            <a:pPr>
              <a:defRPr sz="2250" b="1">
                <a:solidFill>
                  <a:srgbClr val="006C48"/>
                </a:solidFill>
              </a:defRPr>
            </a:pPr>
            <a:r>
              <a:rPr sz="2250" b="1">
                <a:solidFill>
                  <a:srgbClr val="006C48"/>
                </a:solidFill>
              </a:rPr>
              <a:t>17.1%</a:t>
            </a:r>
          </a:p>
        </p:txBody>
      </p:sp>
      <p:sp>
        <p:nvSpPr>
          <p:cNvPr id="11" name="Rectangle 10">
            <a:extLst>
              <a:ext uri="{FF2B5EF4-FFF2-40B4-BE49-F238E27FC236}">
                <a16:creationId xmlns:a16="http://schemas.microsoft.com/office/drawing/2014/main" id="{971926D5-D4A4-4335-821F-61E2BE45315E}"/>
              </a:ext>
            </a:extLst>
          </p:cNvPr>
          <p:cNvSpPr>
            <a:spLocks noGrp="1"/>
          </p:cNvSpPr>
          <p:nvPr/>
        </p:nvSpPr>
        <p:spPr>
          <a:xfrm>
            <a:off x="7620000" y="3581400"/>
            <a:ext cx="1752600" cy="323850"/>
          </a:xfrm>
          <a:prstGeom prst="rect">
            <a:avLst/>
          </a:prstGeom>
          <a:noFill/>
          <a:ln w="0">
            <a:noFill/>
            <a:prstDash val="solid"/>
          </a:ln>
        </p:spPr>
        <p:txBody>
          <a:bodyPr/>
          <a:lstStyle/>
          <a:p>
            <a:pPr>
              <a:defRPr sz="1200">
                <a:solidFill>
                  <a:srgbClr val="006C48"/>
                </a:solidFill>
              </a:defRPr>
            </a:pPr>
            <a:r>
              <a:rPr sz="1200">
                <a:solidFill>
                  <a:srgbClr val="006C48"/>
                </a:solidFill>
              </a:rPr>
              <a:t>logged-in conversion</a:t>
            </a:r>
          </a:p>
        </p:txBody>
      </p:sp>
      <p:sp>
        <p:nvSpPr>
          <p:cNvPr id="12" name="Rectangle 11">
            <a:extLst>
              <a:ext uri="{FF2B5EF4-FFF2-40B4-BE49-F238E27FC236}">
                <a16:creationId xmlns:a16="http://schemas.microsoft.com/office/drawing/2014/main" id="{46AC3789-0A78-43CE-92FA-2B14FB0C4E47}"/>
              </a:ext>
            </a:extLst>
          </p:cNvPr>
          <p:cNvSpPr>
            <a:spLocks noGrp="1"/>
          </p:cNvSpPr>
          <p:nvPr/>
        </p:nvSpPr>
        <p:spPr>
          <a:xfrm>
            <a:off x="5067300" y="4309935"/>
            <a:ext cx="4743450" cy="590550"/>
          </a:xfrm>
          <a:prstGeom prst="rect">
            <a:avLst/>
          </a:prstGeom>
          <a:noFill/>
          <a:ln w="0">
            <a:noFill/>
            <a:prstDash val="solid"/>
          </a:ln>
        </p:spPr>
        <p:txBody>
          <a:bodyPr/>
          <a:lstStyle/>
          <a:p>
            <a:pPr>
              <a:defRPr sz="1875" b="1">
                <a:solidFill>
                  <a:srgbClr val="E4003A"/>
                </a:solidFill>
              </a:defRPr>
            </a:pPr>
            <a:r>
              <a:rPr lang="en-GB" sz="1875" b="1" dirty="0"/>
              <a:t>Remove </a:t>
            </a:r>
            <a:r>
              <a:rPr lang="en-GB" sz="1875" b="1" dirty="0" err="1"/>
              <a:t>RedPoints</a:t>
            </a:r>
            <a:r>
              <a:rPr lang="en-GB" sz="1875" b="1" dirty="0"/>
              <a:t> from the onboarding</a:t>
            </a:r>
            <a:endParaRPr sz="1875" b="1" dirty="0">
              <a:solidFill>
                <a:srgbClr val="E4003A"/>
              </a:solidFill>
            </a:endParaRPr>
          </a:p>
        </p:txBody>
      </p:sp>
      <p:sp>
        <p:nvSpPr>
          <p:cNvPr id="13" name="Oval 12">
            <a:extLst>
              <a:ext uri="{FF2B5EF4-FFF2-40B4-BE49-F238E27FC236}">
                <a16:creationId xmlns:a16="http://schemas.microsoft.com/office/drawing/2014/main" id="{E865E270-9C5C-4C9A-B832-1BE6ECD37D95}"/>
              </a:ext>
            </a:extLst>
          </p:cNvPr>
          <p:cNvSpPr>
            <a:spLocks noGrp="1"/>
          </p:cNvSpPr>
          <p:nvPr/>
        </p:nvSpPr>
        <p:spPr>
          <a:xfrm>
            <a:off x="5067300" y="5067300"/>
            <a:ext cx="95250" cy="95250"/>
          </a:xfrm>
          <a:prstGeom prst="ellipse">
            <a:avLst/>
          </a:prstGeom>
          <a:solidFill>
            <a:srgbClr val="E4003A"/>
          </a:solidFill>
          <a:ln w="0">
            <a:noFill/>
            <a:prstDash val="solid"/>
          </a:ln>
        </p:spPr>
        <p:txBody>
          <a:bodyPr/>
          <a:lstStyle/>
          <a:p>
            <a:endParaRPr lang="en-DE"/>
          </a:p>
        </p:txBody>
      </p:sp>
      <p:sp>
        <p:nvSpPr>
          <p:cNvPr id="14" name="Rectangle 13">
            <a:extLst>
              <a:ext uri="{FF2B5EF4-FFF2-40B4-BE49-F238E27FC236}">
                <a16:creationId xmlns:a16="http://schemas.microsoft.com/office/drawing/2014/main" id="{395A2C00-1E80-47BA-AE22-DE74B9F419C0}"/>
              </a:ext>
            </a:extLst>
          </p:cNvPr>
          <p:cNvSpPr>
            <a:spLocks noGrp="1"/>
          </p:cNvSpPr>
          <p:nvPr/>
        </p:nvSpPr>
        <p:spPr>
          <a:xfrm>
            <a:off x="5276850" y="4936008"/>
            <a:ext cx="4743450" cy="419100"/>
          </a:xfrm>
          <a:prstGeom prst="rect">
            <a:avLst/>
          </a:prstGeom>
          <a:noFill/>
          <a:ln w="0">
            <a:noFill/>
            <a:prstDash val="solid"/>
          </a:ln>
        </p:spPr>
        <p:txBody>
          <a:bodyPr/>
          <a:lstStyle/>
          <a:p>
            <a:pPr>
              <a:defRPr sz="1350">
                <a:solidFill>
                  <a:srgbClr val="1B1C1B"/>
                </a:solidFill>
              </a:defRPr>
            </a:pPr>
            <a:r>
              <a:rPr lang="en-US" sz="1350" dirty="0">
                <a:solidFill>
                  <a:srgbClr val="1B1C1B"/>
                </a:solidFill>
              </a:rPr>
              <a:t>We believe there is no need for an A/B test because data doesn’t justify it</a:t>
            </a:r>
            <a:endParaRPr sz="1350" dirty="0">
              <a:solidFill>
                <a:srgbClr val="1B1C1B"/>
              </a:solidFill>
            </a:endParaRPr>
          </a:p>
        </p:txBody>
      </p:sp>
      <p:sp>
        <p:nvSpPr>
          <p:cNvPr id="15" name="Oval 14">
            <a:extLst>
              <a:ext uri="{FF2B5EF4-FFF2-40B4-BE49-F238E27FC236}">
                <a16:creationId xmlns:a16="http://schemas.microsoft.com/office/drawing/2014/main" id="{3CCD78DB-FB73-426A-8A11-F0EDE8525086}"/>
              </a:ext>
            </a:extLst>
          </p:cNvPr>
          <p:cNvSpPr>
            <a:spLocks noGrp="1"/>
          </p:cNvSpPr>
          <p:nvPr/>
        </p:nvSpPr>
        <p:spPr>
          <a:xfrm>
            <a:off x="5067300" y="5590401"/>
            <a:ext cx="95250" cy="95250"/>
          </a:xfrm>
          <a:prstGeom prst="ellipse">
            <a:avLst/>
          </a:prstGeom>
          <a:solidFill>
            <a:srgbClr val="E4003A"/>
          </a:solidFill>
          <a:ln w="0">
            <a:noFill/>
            <a:prstDash val="solid"/>
          </a:ln>
        </p:spPr>
        <p:txBody>
          <a:bodyPr/>
          <a:lstStyle/>
          <a:p>
            <a:endParaRPr lang="en-DE"/>
          </a:p>
        </p:txBody>
      </p:sp>
      <p:sp>
        <p:nvSpPr>
          <p:cNvPr id="16" name="Rectangle 15">
            <a:extLst>
              <a:ext uri="{FF2B5EF4-FFF2-40B4-BE49-F238E27FC236}">
                <a16:creationId xmlns:a16="http://schemas.microsoft.com/office/drawing/2014/main" id="{466A7A61-1475-4109-BCF1-7755F62D18FC}"/>
              </a:ext>
            </a:extLst>
          </p:cNvPr>
          <p:cNvSpPr>
            <a:spLocks noGrp="1"/>
          </p:cNvSpPr>
          <p:nvPr/>
        </p:nvSpPr>
        <p:spPr>
          <a:xfrm>
            <a:off x="5276850" y="5422038"/>
            <a:ext cx="4743450" cy="419100"/>
          </a:xfrm>
          <a:prstGeom prst="rect">
            <a:avLst/>
          </a:prstGeom>
          <a:noFill/>
          <a:ln w="0">
            <a:noFill/>
            <a:prstDash val="solid"/>
          </a:ln>
        </p:spPr>
        <p:txBody>
          <a:bodyPr/>
          <a:lstStyle/>
          <a:p>
            <a:pPr>
              <a:defRPr sz="1350">
                <a:solidFill>
                  <a:srgbClr val="1B1C1B"/>
                </a:solidFill>
              </a:defRPr>
            </a:pPr>
            <a:r>
              <a:rPr lang="en-US" sz="1350" dirty="0">
                <a:solidFill>
                  <a:srgbClr val="1B1C1B"/>
                </a:solidFill>
              </a:rPr>
              <a:t>Redpoints should be attached to a real basket or product since purchase is the trigger.</a:t>
            </a:r>
            <a:endParaRPr sz="1350" dirty="0">
              <a:solidFill>
                <a:srgbClr val="1B1C1B"/>
              </a:solidFill>
            </a:endParaRPr>
          </a:p>
        </p:txBody>
      </p:sp>
      <p:sp>
        <p:nvSpPr>
          <p:cNvPr id="17" name="Rectangle 16">
            <a:extLst>
              <a:ext uri="{FF2B5EF4-FFF2-40B4-BE49-F238E27FC236}">
                <a16:creationId xmlns:a16="http://schemas.microsoft.com/office/drawing/2014/main" id="{9A21B1A7-1644-49E8-9725-0838151D9ED6}"/>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8" name="Rectangle 17">
            <a:extLst>
              <a:ext uri="{FF2B5EF4-FFF2-40B4-BE49-F238E27FC236}">
                <a16:creationId xmlns:a16="http://schemas.microsoft.com/office/drawing/2014/main" id="{806F98CB-A9BE-4A69-A4C6-DF28A4364387}"/>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11/18</a:t>
            </a:r>
          </a:p>
        </p:txBody>
      </p:sp>
    </p:spTree>
    <p:extLst>
      <p:ext uri="{BB962C8B-B14F-4D97-AF65-F5344CB8AC3E}">
        <p14:creationId xmlns:p14="http://schemas.microsoft.com/office/powerpoint/2010/main" val="1101679732"/>
      </p:ext>
    </p:extLst>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7"/>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7D640F-0833-43BA-BAF1-CD08E32E9636}"/>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sz="975" b="1">
                <a:solidFill>
                  <a:srgbClr val="E4003A"/>
                </a:solidFill>
              </a:rPr>
              <a:t>SCREEN RECOMMENDATION</a:t>
            </a:r>
          </a:p>
        </p:txBody>
      </p:sp>
      <p:sp>
        <p:nvSpPr>
          <p:cNvPr id="2" name="Rectangle 1">
            <a:extLst>
              <a:ext uri="{FF2B5EF4-FFF2-40B4-BE49-F238E27FC236}">
                <a16:creationId xmlns:a16="http://schemas.microsoft.com/office/drawing/2014/main" id="{4929C6EB-3C17-41EE-AC78-1B3FEA8F33E4}"/>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sz="3150" b="1">
                <a:solidFill>
                  <a:srgbClr val="1B1C1B"/>
                </a:solidFill>
              </a:rPr>
              <a:t>Push needs a reason stronger than general promotions</a:t>
            </a:r>
          </a:p>
        </p:txBody>
      </p:sp>
      <p:sp>
        <p:nvSpPr>
          <p:cNvPr id="3" name="Rectangle 2">
            <a:extLst>
              <a:ext uri="{FF2B5EF4-FFF2-40B4-BE49-F238E27FC236}">
                <a16:creationId xmlns:a16="http://schemas.microsoft.com/office/drawing/2014/main" id="{3A319D46-8F84-4945-9B41-388EF798BB69}"/>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sz="1425">
                <a:solidFill>
                  <a:srgbClr val="645E5C"/>
                </a:solidFill>
              </a:rPr>
              <a:t>The source shows 6.5% onboarding push opt-in versus a roughly 20% benchmark. The prompt should appear after value is visible, not before intent.</a:t>
            </a:r>
          </a:p>
        </p:txBody>
      </p:sp>
      <p:pic>
        <p:nvPicPr>
          <p:cNvPr id="18" name="Picture 17"/>
          <p:cNvPicPr>
            <a:picLocks noChangeAspect="1"/>
          </p:cNvPicPr>
          <p:nvPr/>
        </p:nvPicPr>
        <p:blipFill>
          <a:blip r:embed="rId3"/>
          <a:stretch/>
        </p:blipFill>
        <p:spPr>
          <a:xfrm>
            <a:off x="781531" y="2372051"/>
            <a:ext cx="1853040" cy="4028749"/>
          </a:xfrm>
          <a:prstGeom prst="roundRect">
            <a:avLst>
              <a:gd name="adj" fmla="val 7692"/>
            </a:avLst>
          </a:prstGeom>
        </p:spPr>
      </p:pic>
      <p:sp>
        <p:nvSpPr>
          <p:cNvPr id="5" name="Rounded Rectangle 4">
            <a:extLst>
              <a:ext uri="{FF2B5EF4-FFF2-40B4-BE49-F238E27FC236}">
                <a16:creationId xmlns:a16="http://schemas.microsoft.com/office/drawing/2014/main" id="{CE5D703C-2316-46B5-A533-0F47465B6E82}"/>
              </a:ext>
            </a:extLst>
          </p:cNvPr>
          <p:cNvSpPr>
            <a:spLocks noGrp="1"/>
          </p:cNvSpPr>
          <p:nvPr/>
        </p:nvSpPr>
        <p:spPr>
          <a:xfrm>
            <a:off x="4705350" y="2705100"/>
            <a:ext cx="2857500" cy="3371850"/>
          </a:xfrm>
          <a:prstGeom prst="roundRect">
            <a:avLst>
              <a:gd name="adj" fmla="val 5455"/>
            </a:avLst>
          </a:prstGeom>
          <a:solidFill>
            <a:srgbClr val="FFF1EA"/>
          </a:solidFill>
          <a:ln w="9525">
            <a:solidFill>
              <a:srgbClr val="E9DEDA"/>
            </a:solidFill>
            <a:prstDash val="solid"/>
          </a:ln>
        </p:spPr>
        <p:style>
          <a:lnRef idx="0">
            <a:scrgbClr r="0" g="0" b="0"/>
          </a:lnRef>
          <a:fillRef idx="0">
            <a:scrgbClr r="0" g="0" b="0"/>
          </a:fillRef>
          <a:effectRef idx="4">
            <a:scrgbClr r="0" g="0" b="0"/>
          </a:effectRef>
          <a:fontRef idx="major"/>
        </p:style>
        <p:txBody>
          <a:bodyPr/>
          <a:lstStyle/>
          <a:p>
            <a:endParaRPr lang="en-DE"/>
          </a:p>
        </p:txBody>
      </p:sp>
      <p:sp>
        <p:nvSpPr>
          <p:cNvPr id="6" name="Rectangle 5">
            <a:extLst>
              <a:ext uri="{FF2B5EF4-FFF2-40B4-BE49-F238E27FC236}">
                <a16:creationId xmlns:a16="http://schemas.microsoft.com/office/drawing/2014/main" id="{9F2EDFA0-F327-4B6D-8D2D-B2B950C8AEDD}"/>
              </a:ext>
            </a:extLst>
          </p:cNvPr>
          <p:cNvSpPr>
            <a:spLocks noGrp="1"/>
          </p:cNvSpPr>
          <p:nvPr/>
        </p:nvSpPr>
        <p:spPr>
          <a:xfrm>
            <a:off x="4991100" y="3009900"/>
            <a:ext cx="2000250" cy="285750"/>
          </a:xfrm>
          <a:prstGeom prst="rect">
            <a:avLst/>
          </a:prstGeom>
          <a:noFill/>
          <a:ln w="0">
            <a:noFill/>
            <a:prstDash val="solid"/>
          </a:ln>
        </p:spPr>
        <p:txBody>
          <a:bodyPr/>
          <a:lstStyle/>
          <a:p>
            <a:pPr>
              <a:defRPr sz="1875" b="1">
                <a:solidFill>
                  <a:srgbClr val="E4003A"/>
                </a:solidFill>
              </a:defRPr>
            </a:pPr>
            <a:r>
              <a:rPr lang="en-US" sz="1875" b="1" dirty="0">
                <a:solidFill>
                  <a:srgbClr val="E4003A"/>
                </a:solidFill>
              </a:rPr>
              <a:t>A/B Testing</a:t>
            </a:r>
            <a:endParaRPr sz="1875" b="1" dirty="0">
              <a:solidFill>
                <a:srgbClr val="E4003A"/>
              </a:solidFill>
            </a:endParaRPr>
          </a:p>
        </p:txBody>
      </p:sp>
      <p:sp>
        <p:nvSpPr>
          <p:cNvPr id="7" name="Rectangle 6">
            <a:extLst>
              <a:ext uri="{FF2B5EF4-FFF2-40B4-BE49-F238E27FC236}">
                <a16:creationId xmlns:a16="http://schemas.microsoft.com/office/drawing/2014/main" id="{6FA87326-CBBA-4C64-B263-17CE0C1FE9D9}"/>
              </a:ext>
            </a:extLst>
          </p:cNvPr>
          <p:cNvSpPr>
            <a:spLocks noGrp="1"/>
          </p:cNvSpPr>
          <p:nvPr/>
        </p:nvSpPr>
        <p:spPr>
          <a:xfrm>
            <a:off x="4991100" y="3365723"/>
            <a:ext cx="2190750" cy="2419350"/>
          </a:xfrm>
          <a:prstGeom prst="rect">
            <a:avLst/>
          </a:prstGeom>
          <a:noFill/>
          <a:ln w="0">
            <a:noFill/>
            <a:prstDash val="solid"/>
          </a:ln>
        </p:spPr>
        <p:txBody>
          <a:bodyPr/>
          <a:lstStyle/>
          <a:p>
            <a:pPr>
              <a:defRPr sz="1350">
                <a:solidFill>
                  <a:srgbClr val="645E5C"/>
                </a:solidFill>
              </a:defRPr>
            </a:pPr>
            <a:r>
              <a:rPr lang="en-GB" sz="1350" dirty="0"/>
              <a:t>If we remove push opt-ins from the onboarding and add them to all actions where the users shows commitment (favourite, add to cart, view coupons, view discounts), can we improve the session length and drop-off rate of guest users while still having the same number of opt-ins?</a:t>
            </a:r>
            <a:endParaRPr sz="1350" dirty="0">
              <a:solidFill>
                <a:srgbClr val="645E5C"/>
              </a:solidFill>
            </a:endParaRPr>
          </a:p>
        </p:txBody>
      </p:sp>
      <p:sp>
        <p:nvSpPr>
          <p:cNvPr id="8" name="Rounded Rectangle 7">
            <a:extLst>
              <a:ext uri="{FF2B5EF4-FFF2-40B4-BE49-F238E27FC236}">
                <a16:creationId xmlns:a16="http://schemas.microsoft.com/office/drawing/2014/main" id="{FF0BD4E3-5F0E-46B8-95AA-10EF57CEFB7E}"/>
              </a:ext>
            </a:extLst>
          </p:cNvPr>
          <p:cNvSpPr>
            <a:spLocks noGrp="1"/>
          </p:cNvSpPr>
          <p:nvPr/>
        </p:nvSpPr>
        <p:spPr>
          <a:xfrm>
            <a:off x="7867650" y="2705100"/>
            <a:ext cx="2857500" cy="1922656"/>
          </a:xfrm>
          <a:prstGeom prst="roundRect">
            <a:avLst>
              <a:gd name="adj" fmla="val 5455"/>
            </a:avLst>
          </a:prstGeom>
          <a:solidFill>
            <a:srgbClr val="DDF3E6"/>
          </a:solidFill>
          <a:ln w="9525">
            <a:solidFill>
              <a:srgbClr val="E9DEDA"/>
            </a:solidFill>
            <a:prstDash val="solid"/>
          </a:ln>
        </p:spPr>
        <p:style>
          <a:lnRef idx="0">
            <a:scrgbClr r="0" g="0" b="0"/>
          </a:lnRef>
          <a:fillRef idx="0">
            <a:scrgbClr r="0" g="0" b="0"/>
          </a:fillRef>
          <a:effectRef idx="4">
            <a:scrgbClr r="0" g="0" b="0"/>
          </a:effectRef>
          <a:fontRef idx="major"/>
        </p:style>
        <p:txBody>
          <a:bodyPr/>
          <a:lstStyle/>
          <a:p>
            <a:endParaRPr lang="en-DE"/>
          </a:p>
        </p:txBody>
      </p:sp>
      <p:sp>
        <p:nvSpPr>
          <p:cNvPr id="9" name="Rectangle 8">
            <a:extLst>
              <a:ext uri="{FF2B5EF4-FFF2-40B4-BE49-F238E27FC236}">
                <a16:creationId xmlns:a16="http://schemas.microsoft.com/office/drawing/2014/main" id="{EC6F1502-9E96-4C0C-9713-14C1BC2F4134}"/>
              </a:ext>
            </a:extLst>
          </p:cNvPr>
          <p:cNvSpPr>
            <a:spLocks noGrp="1"/>
          </p:cNvSpPr>
          <p:nvPr/>
        </p:nvSpPr>
        <p:spPr>
          <a:xfrm>
            <a:off x="8153400" y="3009900"/>
            <a:ext cx="2000250" cy="285750"/>
          </a:xfrm>
          <a:prstGeom prst="rect">
            <a:avLst/>
          </a:prstGeom>
          <a:noFill/>
          <a:ln w="0">
            <a:noFill/>
            <a:prstDash val="solid"/>
          </a:ln>
        </p:spPr>
        <p:txBody>
          <a:bodyPr/>
          <a:lstStyle/>
          <a:p>
            <a:pPr>
              <a:defRPr sz="1875" b="1">
                <a:solidFill>
                  <a:srgbClr val="006C48"/>
                </a:solidFill>
              </a:defRPr>
            </a:pPr>
            <a:r>
              <a:rPr lang="en-US" sz="1875" b="1" dirty="0">
                <a:solidFill>
                  <a:srgbClr val="006C48"/>
                </a:solidFill>
              </a:rPr>
              <a:t>An even better scenario</a:t>
            </a:r>
            <a:endParaRPr sz="1875" b="1" dirty="0">
              <a:solidFill>
                <a:srgbClr val="006C48"/>
              </a:solidFill>
            </a:endParaRPr>
          </a:p>
        </p:txBody>
      </p:sp>
      <p:sp>
        <p:nvSpPr>
          <p:cNvPr id="10" name="Rectangle 9">
            <a:extLst>
              <a:ext uri="{FF2B5EF4-FFF2-40B4-BE49-F238E27FC236}">
                <a16:creationId xmlns:a16="http://schemas.microsoft.com/office/drawing/2014/main" id="{2B9BCBCD-F669-4934-94C1-BF2E468DCD37}"/>
              </a:ext>
            </a:extLst>
          </p:cNvPr>
          <p:cNvSpPr>
            <a:spLocks noGrp="1"/>
          </p:cNvSpPr>
          <p:nvPr/>
        </p:nvSpPr>
        <p:spPr>
          <a:xfrm>
            <a:off x="8153400" y="3660177"/>
            <a:ext cx="2209800" cy="876300"/>
          </a:xfrm>
          <a:prstGeom prst="rect">
            <a:avLst/>
          </a:prstGeom>
          <a:noFill/>
          <a:ln w="0">
            <a:noFill/>
            <a:prstDash val="solid"/>
          </a:ln>
        </p:spPr>
        <p:txBody>
          <a:bodyPr/>
          <a:lstStyle/>
          <a:p>
            <a:pPr>
              <a:defRPr sz="1350">
                <a:solidFill>
                  <a:srgbClr val="006C48"/>
                </a:solidFill>
              </a:defRPr>
            </a:pPr>
            <a:r>
              <a:rPr lang="en-GB" sz="1350" dirty="0"/>
              <a:t>Would this at the same time improve first-time </a:t>
            </a:r>
            <a:r>
              <a:rPr lang="en-GB" sz="1350" dirty="0" err="1"/>
              <a:t>eRx</a:t>
            </a:r>
            <a:r>
              <a:rPr lang="en-GB" sz="1350" dirty="0"/>
              <a:t> conversion rates?</a:t>
            </a:r>
            <a:endParaRPr sz="1350" dirty="0">
              <a:solidFill>
                <a:srgbClr val="006C48"/>
              </a:solidFill>
            </a:endParaRPr>
          </a:p>
        </p:txBody>
      </p:sp>
      <p:sp>
        <p:nvSpPr>
          <p:cNvPr id="13" name="Rectangle 12">
            <a:extLst>
              <a:ext uri="{FF2B5EF4-FFF2-40B4-BE49-F238E27FC236}">
                <a16:creationId xmlns:a16="http://schemas.microsoft.com/office/drawing/2014/main" id="{89D286C6-805E-47D4-93A7-B1C7F65F23CD}"/>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4" name="Rectangle 13">
            <a:extLst>
              <a:ext uri="{FF2B5EF4-FFF2-40B4-BE49-F238E27FC236}">
                <a16:creationId xmlns:a16="http://schemas.microsoft.com/office/drawing/2014/main" id="{66C73221-0180-4E97-9D17-3675B3E9BFA6}"/>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10/18</a:t>
            </a:r>
          </a:p>
        </p:txBody>
      </p:sp>
    </p:spTree>
    <p:extLst>
      <p:ext uri="{BB962C8B-B14F-4D97-AF65-F5344CB8AC3E}">
        <p14:creationId xmlns:p14="http://schemas.microsoft.com/office/powerpoint/2010/main" val="844077632"/>
      </p:ext>
    </p:extLst>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8F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984F0D-F368-4AC1-B95D-9311C8E6A64D}"/>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sz="975" b="1">
                <a:solidFill>
                  <a:srgbClr val="E4003A"/>
                </a:solidFill>
              </a:rPr>
              <a:t>SCREEN RECOMMENDATION</a:t>
            </a:r>
          </a:p>
        </p:txBody>
      </p:sp>
      <p:sp>
        <p:nvSpPr>
          <p:cNvPr id="2" name="Rectangle 1">
            <a:extLst>
              <a:ext uri="{FF2B5EF4-FFF2-40B4-BE49-F238E27FC236}">
                <a16:creationId xmlns:a16="http://schemas.microsoft.com/office/drawing/2014/main" id="{09C37695-920D-49EF-A2A5-62A7E36E56F2}"/>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sz="3150" b="1">
                <a:solidFill>
                  <a:srgbClr val="1B1C1B"/>
                </a:solidFill>
              </a:rPr>
              <a:t>Login should be a branch requirement, not the first answer to every job</a:t>
            </a:r>
          </a:p>
        </p:txBody>
      </p:sp>
      <p:sp>
        <p:nvSpPr>
          <p:cNvPr id="3" name="Rectangle 2">
            <a:extLst>
              <a:ext uri="{FF2B5EF4-FFF2-40B4-BE49-F238E27FC236}">
                <a16:creationId xmlns:a16="http://schemas.microsoft.com/office/drawing/2014/main" id="{BA40AC46-E6F7-43F9-8ACB-F641152E64DB}"/>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sz="1425">
                <a:solidFill>
                  <a:srgbClr val="645E5C"/>
                </a:solidFill>
              </a:rPr>
              <a:t>The login sheet works, but for mobile returning customers the code path can be more prominent and the screen should appear only when the selected job needs identity.</a:t>
            </a:r>
          </a:p>
        </p:txBody>
      </p:sp>
      <p:pic>
        <p:nvPicPr>
          <p:cNvPr id="20" name="Picture 19"/>
          <p:cNvPicPr>
            <a:picLocks noChangeAspect="1"/>
          </p:cNvPicPr>
          <p:nvPr/>
        </p:nvPicPr>
        <p:blipFill>
          <a:blip r:embed="rId3"/>
          <a:stretch/>
        </p:blipFill>
        <p:spPr>
          <a:xfrm>
            <a:off x="880779" y="2305050"/>
            <a:ext cx="1962717" cy="4267200"/>
          </a:xfrm>
          <a:prstGeom prst="roundRect">
            <a:avLst>
              <a:gd name="adj" fmla="val 7729"/>
            </a:avLst>
          </a:prstGeom>
        </p:spPr>
      </p:pic>
      <p:sp>
        <p:nvSpPr>
          <p:cNvPr id="5" name="Rounded Rectangle 4">
            <a:extLst>
              <a:ext uri="{FF2B5EF4-FFF2-40B4-BE49-F238E27FC236}">
                <a16:creationId xmlns:a16="http://schemas.microsoft.com/office/drawing/2014/main" id="{CFFD04EF-9E8E-490F-ABA2-3926CE55C2B2}"/>
              </a:ext>
            </a:extLst>
          </p:cNvPr>
          <p:cNvSpPr>
            <a:spLocks noGrp="1"/>
          </p:cNvSpPr>
          <p:nvPr/>
        </p:nvSpPr>
        <p:spPr>
          <a:xfrm>
            <a:off x="4819650" y="2686050"/>
            <a:ext cx="5905500" cy="2686050"/>
          </a:xfrm>
          <a:prstGeom prst="roundRect">
            <a:avLst>
              <a:gd name="adj" fmla="val 4255"/>
            </a:avLst>
          </a:prstGeom>
          <a:solidFill>
            <a:srgbClr val="FFFFFF"/>
          </a:solidFill>
          <a:ln w="9525">
            <a:solidFill>
              <a:srgbClr val="E9DEDA"/>
            </a:solidFill>
            <a:prstDash val="solid"/>
          </a:ln>
        </p:spPr>
        <p:style>
          <a:lnRef idx="0">
            <a:scrgbClr r="0" g="0" b="0"/>
          </a:lnRef>
          <a:fillRef idx="0">
            <a:scrgbClr r="0" g="0" b="0"/>
          </a:fillRef>
          <a:effectRef idx="4">
            <a:scrgbClr r="0" g="0" b="0"/>
          </a:effectRef>
          <a:fontRef idx="major"/>
        </p:style>
        <p:txBody>
          <a:bodyPr/>
          <a:lstStyle/>
          <a:p>
            <a:endParaRPr lang="en-DE"/>
          </a:p>
        </p:txBody>
      </p:sp>
      <p:sp>
        <p:nvSpPr>
          <p:cNvPr id="6" name="Rectangle 5">
            <a:extLst>
              <a:ext uri="{FF2B5EF4-FFF2-40B4-BE49-F238E27FC236}">
                <a16:creationId xmlns:a16="http://schemas.microsoft.com/office/drawing/2014/main" id="{B94D8CC3-F8B8-4748-B339-30AD2E077A42}"/>
              </a:ext>
            </a:extLst>
          </p:cNvPr>
          <p:cNvSpPr>
            <a:spLocks noGrp="1"/>
          </p:cNvSpPr>
          <p:nvPr/>
        </p:nvSpPr>
        <p:spPr>
          <a:xfrm>
            <a:off x="5143500" y="3028950"/>
            <a:ext cx="2952750" cy="285750"/>
          </a:xfrm>
          <a:prstGeom prst="rect">
            <a:avLst/>
          </a:prstGeom>
          <a:noFill/>
          <a:ln w="0">
            <a:noFill/>
            <a:prstDash val="solid"/>
          </a:ln>
        </p:spPr>
        <p:txBody>
          <a:bodyPr/>
          <a:lstStyle/>
          <a:p>
            <a:pPr>
              <a:defRPr sz="1875" b="1">
                <a:solidFill>
                  <a:srgbClr val="E4003A"/>
                </a:solidFill>
              </a:defRPr>
            </a:pPr>
            <a:r>
              <a:rPr sz="1875" b="1">
                <a:solidFill>
                  <a:srgbClr val="E4003A"/>
                </a:solidFill>
              </a:rPr>
              <a:t>Recommended changes</a:t>
            </a:r>
          </a:p>
        </p:txBody>
      </p:sp>
      <p:sp>
        <p:nvSpPr>
          <p:cNvPr id="7" name="Oval 6">
            <a:extLst>
              <a:ext uri="{FF2B5EF4-FFF2-40B4-BE49-F238E27FC236}">
                <a16:creationId xmlns:a16="http://schemas.microsoft.com/office/drawing/2014/main" id="{557B2B33-6D25-4942-9E4F-75EEA8539306}"/>
              </a:ext>
            </a:extLst>
          </p:cNvPr>
          <p:cNvSpPr>
            <a:spLocks noGrp="1"/>
          </p:cNvSpPr>
          <p:nvPr/>
        </p:nvSpPr>
        <p:spPr>
          <a:xfrm>
            <a:off x="5143500" y="3600450"/>
            <a:ext cx="95250" cy="95250"/>
          </a:xfrm>
          <a:prstGeom prst="ellipse">
            <a:avLst/>
          </a:prstGeom>
          <a:solidFill>
            <a:srgbClr val="E4003A"/>
          </a:solidFill>
          <a:ln w="0">
            <a:noFill/>
            <a:prstDash val="solid"/>
          </a:ln>
        </p:spPr>
        <p:txBody>
          <a:bodyPr/>
          <a:lstStyle/>
          <a:p>
            <a:endParaRPr lang="en-DE"/>
          </a:p>
        </p:txBody>
      </p:sp>
      <p:sp>
        <p:nvSpPr>
          <p:cNvPr id="8" name="Rectangle 7">
            <a:extLst>
              <a:ext uri="{FF2B5EF4-FFF2-40B4-BE49-F238E27FC236}">
                <a16:creationId xmlns:a16="http://schemas.microsoft.com/office/drawing/2014/main" id="{68A14FB6-7B31-4998-8DE9-CA940C980899}"/>
              </a:ext>
            </a:extLst>
          </p:cNvPr>
          <p:cNvSpPr>
            <a:spLocks noGrp="1"/>
          </p:cNvSpPr>
          <p:nvPr/>
        </p:nvSpPr>
        <p:spPr>
          <a:xfrm>
            <a:off x="5353050" y="3481515"/>
            <a:ext cx="4705350" cy="419100"/>
          </a:xfrm>
          <a:prstGeom prst="rect">
            <a:avLst/>
          </a:prstGeom>
          <a:noFill/>
          <a:ln w="0">
            <a:noFill/>
            <a:prstDash val="solid"/>
          </a:ln>
        </p:spPr>
        <p:txBody>
          <a:bodyPr/>
          <a:lstStyle/>
          <a:p>
            <a:pPr>
              <a:defRPr sz="1350">
                <a:solidFill>
                  <a:srgbClr val="1B1C1B"/>
                </a:solidFill>
              </a:defRPr>
            </a:pPr>
            <a:r>
              <a:rPr sz="1350" dirty="0">
                <a:solidFill>
                  <a:srgbClr val="1B1C1B"/>
                </a:solidFill>
              </a:rPr>
              <a:t>Show login after a user chooses </a:t>
            </a:r>
            <a:r>
              <a:rPr sz="1350" dirty="0" err="1">
                <a:solidFill>
                  <a:srgbClr val="1B1C1B"/>
                </a:solidFill>
              </a:rPr>
              <a:t>eRx</a:t>
            </a:r>
            <a:r>
              <a:rPr sz="1350" dirty="0">
                <a:solidFill>
                  <a:srgbClr val="1B1C1B"/>
                </a:solidFill>
              </a:rPr>
              <a:t>, account, checkout, or saved benefits.</a:t>
            </a:r>
          </a:p>
        </p:txBody>
      </p:sp>
      <p:sp>
        <p:nvSpPr>
          <p:cNvPr id="9" name="Oval 8">
            <a:extLst>
              <a:ext uri="{FF2B5EF4-FFF2-40B4-BE49-F238E27FC236}">
                <a16:creationId xmlns:a16="http://schemas.microsoft.com/office/drawing/2014/main" id="{A8AAA875-2FF9-4466-9981-E07BE243042C}"/>
              </a:ext>
            </a:extLst>
          </p:cNvPr>
          <p:cNvSpPr>
            <a:spLocks noGrp="1"/>
          </p:cNvSpPr>
          <p:nvPr/>
        </p:nvSpPr>
        <p:spPr>
          <a:xfrm>
            <a:off x="5143500" y="4210050"/>
            <a:ext cx="95250" cy="95250"/>
          </a:xfrm>
          <a:prstGeom prst="ellipse">
            <a:avLst/>
          </a:prstGeom>
          <a:solidFill>
            <a:srgbClr val="E4003A"/>
          </a:solidFill>
          <a:ln w="0">
            <a:noFill/>
            <a:prstDash val="solid"/>
          </a:ln>
        </p:spPr>
        <p:txBody>
          <a:bodyPr/>
          <a:lstStyle/>
          <a:p>
            <a:endParaRPr lang="en-DE"/>
          </a:p>
        </p:txBody>
      </p:sp>
      <p:sp>
        <p:nvSpPr>
          <p:cNvPr id="10" name="Rectangle 9">
            <a:extLst>
              <a:ext uri="{FF2B5EF4-FFF2-40B4-BE49-F238E27FC236}">
                <a16:creationId xmlns:a16="http://schemas.microsoft.com/office/drawing/2014/main" id="{25CA1812-D42C-4011-836E-EF18E47E4DDA}"/>
              </a:ext>
            </a:extLst>
          </p:cNvPr>
          <p:cNvSpPr>
            <a:spLocks noGrp="1"/>
          </p:cNvSpPr>
          <p:nvPr/>
        </p:nvSpPr>
        <p:spPr>
          <a:xfrm>
            <a:off x="5353050" y="4103472"/>
            <a:ext cx="4705350" cy="419100"/>
          </a:xfrm>
          <a:prstGeom prst="rect">
            <a:avLst/>
          </a:prstGeom>
          <a:noFill/>
          <a:ln w="0">
            <a:noFill/>
            <a:prstDash val="solid"/>
          </a:ln>
        </p:spPr>
        <p:txBody>
          <a:bodyPr/>
          <a:lstStyle/>
          <a:p>
            <a:pPr>
              <a:defRPr sz="1350">
                <a:solidFill>
                  <a:srgbClr val="1B1C1B"/>
                </a:solidFill>
              </a:defRPr>
            </a:pPr>
            <a:r>
              <a:rPr sz="1350" dirty="0">
                <a:solidFill>
                  <a:srgbClr val="1B1C1B"/>
                </a:solidFill>
              </a:rPr>
              <a:t>Make login code the mobile-friendly default for uncertain returners.</a:t>
            </a:r>
          </a:p>
        </p:txBody>
      </p:sp>
      <p:sp>
        <p:nvSpPr>
          <p:cNvPr id="11" name="Oval 10">
            <a:extLst>
              <a:ext uri="{FF2B5EF4-FFF2-40B4-BE49-F238E27FC236}">
                <a16:creationId xmlns:a16="http://schemas.microsoft.com/office/drawing/2014/main" id="{6432C3F2-6B88-4107-BC26-7C50DAE4911E}"/>
              </a:ext>
            </a:extLst>
          </p:cNvPr>
          <p:cNvSpPr>
            <a:spLocks noGrp="1"/>
          </p:cNvSpPr>
          <p:nvPr/>
        </p:nvSpPr>
        <p:spPr>
          <a:xfrm>
            <a:off x="5143500" y="4819650"/>
            <a:ext cx="95250" cy="95250"/>
          </a:xfrm>
          <a:prstGeom prst="ellipse">
            <a:avLst/>
          </a:prstGeom>
          <a:solidFill>
            <a:srgbClr val="E4003A"/>
          </a:solidFill>
          <a:ln w="0">
            <a:noFill/>
            <a:prstDash val="solid"/>
          </a:ln>
        </p:spPr>
        <p:txBody>
          <a:bodyPr/>
          <a:lstStyle/>
          <a:p>
            <a:endParaRPr lang="en-DE"/>
          </a:p>
        </p:txBody>
      </p:sp>
      <p:sp>
        <p:nvSpPr>
          <p:cNvPr id="12" name="Rectangle 11">
            <a:extLst>
              <a:ext uri="{FF2B5EF4-FFF2-40B4-BE49-F238E27FC236}">
                <a16:creationId xmlns:a16="http://schemas.microsoft.com/office/drawing/2014/main" id="{9041B880-5E88-4614-9F5D-5ADA08F7B038}"/>
              </a:ext>
            </a:extLst>
          </p:cNvPr>
          <p:cNvSpPr>
            <a:spLocks noGrp="1"/>
          </p:cNvSpPr>
          <p:nvPr/>
        </p:nvSpPr>
        <p:spPr>
          <a:xfrm>
            <a:off x="5353050" y="4725429"/>
            <a:ext cx="4705350" cy="419100"/>
          </a:xfrm>
          <a:prstGeom prst="rect">
            <a:avLst/>
          </a:prstGeom>
          <a:noFill/>
          <a:ln w="0">
            <a:noFill/>
            <a:prstDash val="solid"/>
          </a:ln>
        </p:spPr>
        <p:txBody>
          <a:bodyPr/>
          <a:lstStyle/>
          <a:p>
            <a:pPr>
              <a:defRPr sz="1350">
                <a:solidFill>
                  <a:srgbClr val="1B1C1B"/>
                </a:solidFill>
              </a:defRPr>
            </a:pPr>
            <a:r>
              <a:rPr sz="1350" dirty="0">
                <a:solidFill>
                  <a:srgbClr val="1B1C1B"/>
                </a:solidFill>
              </a:rPr>
              <a:t>Keep password, reset, and create-account visible, but secondary.</a:t>
            </a:r>
          </a:p>
        </p:txBody>
      </p:sp>
      <p:sp>
        <p:nvSpPr>
          <p:cNvPr id="13" name="Rounded Rectangle 12">
            <a:extLst>
              <a:ext uri="{FF2B5EF4-FFF2-40B4-BE49-F238E27FC236}">
                <a16:creationId xmlns:a16="http://schemas.microsoft.com/office/drawing/2014/main" id="{52A7E070-1D46-4A2A-B3AF-818E4A471600}"/>
              </a:ext>
            </a:extLst>
          </p:cNvPr>
          <p:cNvSpPr>
            <a:spLocks noGrp="1"/>
          </p:cNvSpPr>
          <p:nvPr/>
        </p:nvSpPr>
        <p:spPr>
          <a:xfrm>
            <a:off x="4819650" y="5695950"/>
            <a:ext cx="5905500" cy="704850"/>
          </a:xfrm>
          <a:prstGeom prst="roundRect">
            <a:avLst>
              <a:gd name="adj" fmla="val 26087"/>
            </a:avLst>
          </a:prstGeom>
          <a:solidFill>
            <a:srgbClr val="DDF3E6"/>
          </a:solidFill>
          <a:ln w="0">
            <a:noFill/>
            <a:prstDash val="solid"/>
          </a:ln>
        </p:spPr>
        <p:txBody>
          <a:bodyPr/>
          <a:lstStyle/>
          <a:p>
            <a:endParaRPr lang="en-DE"/>
          </a:p>
        </p:txBody>
      </p:sp>
      <p:sp>
        <p:nvSpPr>
          <p:cNvPr id="14" name="Rectangle 13">
            <a:extLst>
              <a:ext uri="{FF2B5EF4-FFF2-40B4-BE49-F238E27FC236}">
                <a16:creationId xmlns:a16="http://schemas.microsoft.com/office/drawing/2014/main" id="{DA02C95F-5A0D-424F-8676-D70F0BFA6CD6}"/>
              </a:ext>
            </a:extLst>
          </p:cNvPr>
          <p:cNvSpPr>
            <a:spLocks noGrp="1"/>
          </p:cNvSpPr>
          <p:nvPr/>
        </p:nvSpPr>
        <p:spPr>
          <a:xfrm>
            <a:off x="5067300" y="5829300"/>
            <a:ext cx="5410200" cy="190500"/>
          </a:xfrm>
          <a:prstGeom prst="rect">
            <a:avLst/>
          </a:prstGeom>
          <a:noFill/>
          <a:ln w="0">
            <a:noFill/>
            <a:prstDash val="solid"/>
          </a:ln>
        </p:spPr>
        <p:txBody>
          <a:bodyPr/>
          <a:lstStyle/>
          <a:p>
            <a:pPr algn="ctr">
              <a:defRPr sz="1350" b="1">
                <a:solidFill>
                  <a:srgbClr val="006C48"/>
                </a:solidFill>
              </a:defRPr>
            </a:pPr>
            <a:r>
              <a:rPr sz="1350" b="1">
                <a:solidFill>
                  <a:srgbClr val="006C48"/>
                </a:solidFill>
              </a:rPr>
              <a:t>Expected effect: less Identification loss without weakening secure account flows.</a:t>
            </a:r>
          </a:p>
        </p:txBody>
      </p:sp>
      <p:sp>
        <p:nvSpPr>
          <p:cNvPr id="15" name="Rectangle 14">
            <a:extLst>
              <a:ext uri="{FF2B5EF4-FFF2-40B4-BE49-F238E27FC236}">
                <a16:creationId xmlns:a16="http://schemas.microsoft.com/office/drawing/2014/main" id="{77F990F3-89CC-4C9B-BE3C-80FE23B39C5B}"/>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6" name="Rectangle 15">
            <a:extLst>
              <a:ext uri="{FF2B5EF4-FFF2-40B4-BE49-F238E27FC236}">
                <a16:creationId xmlns:a16="http://schemas.microsoft.com/office/drawing/2014/main" id="{6CAF81C0-C664-4A4E-8B26-2E6AB97289A1}"/>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9/18</a:t>
            </a:r>
          </a:p>
        </p:txBody>
      </p:sp>
    </p:spTree>
    <p:extLst>
      <p:ext uri="{BB962C8B-B14F-4D97-AF65-F5344CB8AC3E}">
        <p14:creationId xmlns:p14="http://schemas.microsoft.com/office/powerpoint/2010/main" val="1235006671"/>
      </p:ext>
    </p:extLst>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8F6"/>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A733B27-3D4B-4D11-9743-132556043096}"/>
              </a:ext>
            </a:extLst>
          </p:cNvPr>
          <p:cNvSpPr>
            <a:spLocks noGrp="1"/>
          </p:cNvSpPr>
          <p:nvPr/>
        </p:nvSpPr>
        <p:spPr>
          <a:xfrm>
            <a:off x="98854" y="228600"/>
            <a:ext cx="12192000" cy="6858000"/>
          </a:xfrm>
          <a:prstGeom prst="roundRect">
            <a:avLst>
              <a:gd name="adj" fmla="val 1667"/>
            </a:avLst>
          </a:prstGeom>
          <a:solidFill>
            <a:srgbClr val="FBF8F6"/>
          </a:solidFill>
          <a:ln w="0">
            <a:noFill/>
            <a:prstDash val="solid"/>
          </a:ln>
        </p:spPr>
        <p:txBody>
          <a:bodyPr/>
          <a:lstStyle/>
          <a:p>
            <a:endParaRPr lang="en-DE"/>
          </a:p>
        </p:txBody>
      </p:sp>
      <p:sp>
        <p:nvSpPr>
          <p:cNvPr id="2" name="Rounded Rectangle 1">
            <a:extLst>
              <a:ext uri="{FF2B5EF4-FFF2-40B4-BE49-F238E27FC236}">
                <a16:creationId xmlns:a16="http://schemas.microsoft.com/office/drawing/2014/main" id="{F8753C5E-A086-469C-9DE6-C935F1C54FCC}"/>
              </a:ext>
            </a:extLst>
          </p:cNvPr>
          <p:cNvSpPr>
            <a:spLocks noGrp="1"/>
          </p:cNvSpPr>
          <p:nvPr/>
        </p:nvSpPr>
        <p:spPr>
          <a:xfrm>
            <a:off x="7391400" y="0"/>
            <a:ext cx="4800600" cy="6858000"/>
          </a:xfrm>
          <a:prstGeom prst="roundRect">
            <a:avLst>
              <a:gd name="adj" fmla="val 2381"/>
            </a:avLst>
          </a:prstGeom>
          <a:solidFill>
            <a:srgbClr val="FFE3D6"/>
          </a:solidFill>
          <a:ln w="0">
            <a:noFill/>
            <a:prstDash val="solid"/>
          </a:ln>
        </p:spPr>
        <p:txBody>
          <a:bodyPr/>
          <a:lstStyle/>
          <a:p>
            <a:endParaRPr lang="en-DE"/>
          </a:p>
        </p:txBody>
      </p:sp>
      <p:sp>
        <p:nvSpPr>
          <p:cNvPr id="3" name="Rectangle 2">
            <a:extLst>
              <a:ext uri="{FF2B5EF4-FFF2-40B4-BE49-F238E27FC236}">
                <a16:creationId xmlns:a16="http://schemas.microsoft.com/office/drawing/2014/main" id="{226B5EE3-FBFA-4712-BB8C-A6DB0E99D96A}"/>
              </a:ext>
            </a:extLst>
          </p:cNvPr>
          <p:cNvSpPr>
            <a:spLocks noGrp="1"/>
          </p:cNvSpPr>
          <p:nvPr/>
        </p:nvSpPr>
        <p:spPr>
          <a:xfrm>
            <a:off x="685800" y="571500"/>
            <a:ext cx="4000500" cy="266700"/>
          </a:xfrm>
          <a:prstGeom prst="rect">
            <a:avLst/>
          </a:prstGeom>
          <a:noFill/>
          <a:ln w="0">
            <a:noFill/>
            <a:prstDash val="solid"/>
          </a:ln>
        </p:spPr>
        <p:txBody>
          <a:bodyPr/>
          <a:lstStyle/>
          <a:p>
            <a:pPr>
              <a:defRPr sz="1050" b="1">
                <a:solidFill>
                  <a:srgbClr val="E4003A"/>
                </a:solidFill>
              </a:defRPr>
            </a:pPr>
            <a:r>
              <a:rPr lang="en-US" sz="1050" b="1" dirty="0">
                <a:solidFill>
                  <a:srgbClr val="E4003A"/>
                </a:solidFill>
              </a:rPr>
              <a:t>PROPOSED ONBOARDING</a:t>
            </a:r>
            <a:endParaRPr sz="1050" b="1" dirty="0">
              <a:solidFill>
                <a:srgbClr val="E4003A"/>
              </a:solidFill>
            </a:endParaRPr>
          </a:p>
        </p:txBody>
      </p:sp>
      <p:sp>
        <p:nvSpPr>
          <p:cNvPr id="4" name="Rectangle 3">
            <a:extLst>
              <a:ext uri="{FF2B5EF4-FFF2-40B4-BE49-F238E27FC236}">
                <a16:creationId xmlns:a16="http://schemas.microsoft.com/office/drawing/2014/main" id="{00A09285-352E-41C7-83B8-0D5E0BDF9F00}"/>
              </a:ext>
            </a:extLst>
          </p:cNvPr>
          <p:cNvSpPr>
            <a:spLocks noGrp="1"/>
          </p:cNvSpPr>
          <p:nvPr/>
        </p:nvSpPr>
        <p:spPr>
          <a:xfrm>
            <a:off x="685800" y="1200150"/>
            <a:ext cx="6286500" cy="1676400"/>
          </a:xfrm>
          <a:prstGeom prst="rect">
            <a:avLst/>
          </a:prstGeom>
          <a:noFill/>
          <a:ln w="0">
            <a:noFill/>
            <a:prstDash val="solid"/>
          </a:ln>
        </p:spPr>
        <p:txBody>
          <a:bodyPr/>
          <a:lstStyle/>
          <a:p>
            <a:pPr>
              <a:defRPr sz="4200" b="1">
                <a:solidFill>
                  <a:srgbClr val="1B1C1B"/>
                </a:solidFill>
              </a:defRPr>
            </a:pPr>
            <a:r>
              <a:rPr lang="en-US" sz="4200" b="1" dirty="0">
                <a:solidFill>
                  <a:srgbClr val="1B1C1B"/>
                </a:solidFill>
              </a:rPr>
              <a:t>Most valuable screens during onboarding</a:t>
            </a:r>
            <a:endParaRPr sz="4200" b="1" dirty="0">
              <a:solidFill>
                <a:srgbClr val="1B1C1B"/>
              </a:solidFill>
            </a:endParaRPr>
          </a:p>
        </p:txBody>
      </p:sp>
      <p:sp>
        <p:nvSpPr>
          <p:cNvPr id="5" name="Rectangle 4">
            <a:extLst>
              <a:ext uri="{FF2B5EF4-FFF2-40B4-BE49-F238E27FC236}">
                <a16:creationId xmlns:a16="http://schemas.microsoft.com/office/drawing/2014/main" id="{0B8EA378-7318-48C9-A715-D1DE7BF13BAC}"/>
              </a:ext>
            </a:extLst>
          </p:cNvPr>
          <p:cNvSpPr>
            <a:spLocks noGrp="1"/>
          </p:cNvSpPr>
          <p:nvPr/>
        </p:nvSpPr>
        <p:spPr>
          <a:xfrm>
            <a:off x="685800" y="3143250"/>
            <a:ext cx="5810250" cy="876300"/>
          </a:xfrm>
          <a:prstGeom prst="rect">
            <a:avLst/>
          </a:prstGeom>
          <a:noFill/>
          <a:ln w="0">
            <a:noFill/>
            <a:prstDash val="solid"/>
          </a:ln>
        </p:spPr>
        <p:txBody>
          <a:bodyPr/>
          <a:lstStyle/>
          <a:p>
            <a:pPr>
              <a:defRPr sz="1725">
                <a:solidFill>
                  <a:srgbClr val="645E5C"/>
                </a:solidFill>
              </a:defRPr>
            </a:pPr>
            <a:r>
              <a:rPr lang="en-US" sz="1725" dirty="0">
                <a:solidFill>
                  <a:srgbClr val="645E5C"/>
                </a:solidFill>
              </a:rPr>
              <a:t>Consent and Intent split. While consent might be a legal requirement, intent split should come before any permission requirement</a:t>
            </a:r>
            <a:endParaRPr sz="1725" dirty="0">
              <a:solidFill>
                <a:srgbClr val="645E5C"/>
              </a:solidFill>
            </a:endParaRPr>
          </a:p>
        </p:txBody>
      </p:sp>
      <p:sp>
        <p:nvSpPr>
          <p:cNvPr id="6" name="Rounded Rectangle 5">
            <a:extLst>
              <a:ext uri="{FF2B5EF4-FFF2-40B4-BE49-F238E27FC236}">
                <a16:creationId xmlns:a16="http://schemas.microsoft.com/office/drawing/2014/main" id="{790BB4FB-3F0A-4B88-AAE4-AB3D8719F308}"/>
              </a:ext>
            </a:extLst>
          </p:cNvPr>
          <p:cNvSpPr>
            <a:spLocks noGrp="1"/>
          </p:cNvSpPr>
          <p:nvPr/>
        </p:nvSpPr>
        <p:spPr>
          <a:xfrm>
            <a:off x="685800" y="4629150"/>
            <a:ext cx="2000250" cy="1028700"/>
          </a:xfrm>
          <a:prstGeom prst="roundRect">
            <a:avLst>
              <a:gd name="adj" fmla="val 12500"/>
            </a:avLst>
          </a:prstGeom>
          <a:solidFill>
            <a:srgbClr val="FFF1EA"/>
          </a:solidFill>
          <a:ln w="9525">
            <a:solidFill>
              <a:srgbClr val="E9DEDA"/>
            </a:solidFill>
            <a:prstDash val="solid"/>
          </a:ln>
        </p:spPr>
        <p:txBody>
          <a:bodyPr/>
          <a:lstStyle/>
          <a:p>
            <a:endParaRPr lang="en-DE"/>
          </a:p>
        </p:txBody>
      </p:sp>
      <p:sp>
        <p:nvSpPr>
          <p:cNvPr id="7" name="Rectangle 6">
            <a:extLst>
              <a:ext uri="{FF2B5EF4-FFF2-40B4-BE49-F238E27FC236}">
                <a16:creationId xmlns:a16="http://schemas.microsoft.com/office/drawing/2014/main" id="{FEC31CB2-BE90-4BAC-8641-0B2A3088D409}"/>
              </a:ext>
            </a:extLst>
          </p:cNvPr>
          <p:cNvSpPr>
            <a:spLocks noGrp="1"/>
          </p:cNvSpPr>
          <p:nvPr/>
        </p:nvSpPr>
        <p:spPr>
          <a:xfrm>
            <a:off x="857250" y="4762500"/>
            <a:ext cx="1657350" cy="323850"/>
          </a:xfrm>
          <a:prstGeom prst="rect">
            <a:avLst/>
          </a:prstGeom>
          <a:noFill/>
          <a:ln w="0">
            <a:noFill/>
            <a:prstDash val="solid"/>
          </a:ln>
        </p:spPr>
        <p:txBody>
          <a:bodyPr/>
          <a:lstStyle/>
          <a:p>
            <a:pPr>
              <a:defRPr sz="2250" b="1">
                <a:solidFill>
                  <a:srgbClr val="E4003A"/>
                </a:solidFill>
              </a:defRPr>
            </a:pPr>
            <a:r>
              <a:rPr sz="2250" b="1">
                <a:solidFill>
                  <a:srgbClr val="E4003A"/>
                </a:solidFill>
              </a:rPr>
              <a:t>~19.5%</a:t>
            </a:r>
          </a:p>
        </p:txBody>
      </p:sp>
      <p:sp>
        <p:nvSpPr>
          <p:cNvPr id="8" name="Rectangle 7">
            <a:extLst>
              <a:ext uri="{FF2B5EF4-FFF2-40B4-BE49-F238E27FC236}">
                <a16:creationId xmlns:a16="http://schemas.microsoft.com/office/drawing/2014/main" id="{898DFACF-E2B1-4A2D-9A31-FCA4BBE9067C}"/>
              </a:ext>
            </a:extLst>
          </p:cNvPr>
          <p:cNvSpPr>
            <a:spLocks noGrp="1"/>
          </p:cNvSpPr>
          <p:nvPr/>
        </p:nvSpPr>
        <p:spPr>
          <a:xfrm>
            <a:off x="857250" y="5143500"/>
            <a:ext cx="1657350" cy="323850"/>
          </a:xfrm>
          <a:prstGeom prst="rect">
            <a:avLst/>
          </a:prstGeom>
          <a:noFill/>
          <a:ln w="0">
            <a:noFill/>
            <a:prstDash val="solid"/>
          </a:ln>
        </p:spPr>
        <p:txBody>
          <a:bodyPr/>
          <a:lstStyle/>
          <a:p>
            <a:pPr>
              <a:defRPr sz="1200">
                <a:solidFill>
                  <a:srgbClr val="645E5C"/>
                </a:solidFill>
              </a:defRPr>
            </a:pPr>
            <a:r>
              <a:rPr sz="1200">
                <a:solidFill>
                  <a:srgbClr val="645E5C"/>
                </a:solidFill>
              </a:rPr>
              <a:t>loss near Identification</a:t>
            </a:r>
          </a:p>
        </p:txBody>
      </p:sp>
      <p:sp>
        <p:nvSpPr>
          <p:cNvPr id="9" name="Rounded Rectangle 8">
            <a:extLst>
              <a:ext uri="{FF2B5EF4-FFF2-40B4-BE49-F238E27FC236}">
                <a16:creationId xmlns:a16="http://schemas.microsoft.com/office/drawing/2014/main" id="{766AB35A-8FB3-4B88-8336-2E1570F2D92B}"/>
              </a:ext>
            </a:extLst>
          </p:cNvPr>
          <p:cNvSpPr>
            <a:spLocks noGrp="1"/>
          </p:cNvSpPr>
          <p:nvPr/>
        </p:nvSpPr>
        <p:spPr>
          <a:xfrm>
            <a:off x="2914650" y="4629150"/>
            <a:ext cx="2000250" cy="1028700"/>
          </a:xfrm>
          <a:prstGeom prst="roundRect">
            <a:avLst>
              <a:gd name="adj" fmla="val 12500"/>
            </a:avLst>
          </a:prstGeom>
          <a:solidFill>
            <a:srgbClr val="FFF1EA"/>
          </a:solidFill>
          <a:ln w="9525">
            <a:solidFill>
              <a:srgbClr val="E9DEDA"/>
            </a:solidFill>
            <a:prstDash val="solid"/>
          </a:ln>
        </p:spPr>
        <p:txBody>
          <a:bodyPr/>
          <a:lstStyle/>
          <a:p>
            <a:endParaRPr lang="en-DE"/>
          </a:p>
        </p:txBody>
      </p:sp>
      <p:sp>
        <p:nvSpPr>
          <p:cNvPr id="10" name="Rectangle 9">
            <a:extLst>
              <a:ext uri="{FF2B5EF4-FFF2-40B4-BE49-F238E27FC236}">
                <a16:creationId xmlns:a16="http://schemas.microsoft.com/office/drawing/2014/main" id="{FF68FAEA-B4DC-4D2C-AA34-458D9B0F35C5}"/>
              </a:ext>
            </a:extLst>
          </p:cNvPr>
          <p:cNvSpPr>
            <a:spLocks noGrp="1"/>
          </p:cNvSpPr>
          <p:nvPr/>
        </p:nvSpPr>
        <p:spPr>
          <a:xfrm>
            <a:off x="3086100" y="4762500"/>
            <a:ext cx="1657350" cy="323850"/>
          </a:xfrm>
          <a:prstGeom prst="rect">
            <a:avLst/>
          </a:prstGeom>
          <a:noFill/>
          <a:ln w="0">
            <a:noFill/>
            <a:prstDash val="solid"/>
          </a:ln>
        </p:spPr>
        <p:txBody>
          <a:bodyPr/>
          <a:lstStyle/>
          <a:p>
            <a:pPr>
              <a:defRPr sz="2250" b="1">
                <a:solidFill>
                  <a:srgbClr val="E4003A"/>
                </a:solidFill>
              </a:defRPr>
            </a:pPr>
            <a:r>
              <a:rPr sz="2250" b="1">
                <a:solidFill>
                  <a:srgbClr val="E4003A"/>
                </a:solidFill>
              </a:rPr>
              <a:t>6.5%</a:t>
            </a:r>
          </a:p>
        </p:txBody>
      </p:sp>
      <p:sp>
        <p:nvSpPr>
          <p:cNvPr id="11" name="Rectangle 10">
            <a:extLst>
              <a:ext uri="{FF2B5EF4-FFF2-40B4-BE49-F238E27FC236}">
                <a16:creationId xmlns:a16="http://schemas.microsoft.com/office/drawing/2014/main" id="{D26166E5-E650-4BF3-ADAB-5F91A7A2E6E0}"/>
              </a:ext>
            </a:extLst>
          </p:cNvPr>
          <p:cNvSpPr>
            <a:spLocks noGrp="1"/>
          </p:cNvSpPr>
          <p:nvPr/>
        </p:nvSpPr>
        <p:spPr>
          <a:xfrm>
            <a:off x="3086100" y="5143500"/>
            <a:ext cx="1657350" cy="323850"/>
          </a:xfrm>
          <a:prstGeom prst="rect">
            <a:avLst/>
          </a:prstGeom>
          <a:noFill/>
          <a:ln w="0">
            <a:noFill/>
            <a:prstDash val="solid"/>
          </a:ln>
        </p:spPr>
        <p:txBody>
          <a:bodyPr/>
          <a:lstStyle/>
          <a:p>
            <a:pPr>
              <a:defRPr sz="1200">
                <a:solidFill>
                  <a:srgbClr val="645E5C"/>
                </a:solidFill>
              </a:defRPr>
            </a:pPr>
            <a:r>
              <a:rPr sz="1200">
                <a:solidFill>
                  <a:srgbClr val="645E5C"/>
                </a:solidFill>
              </a:rPr>
              <a:t>onboarding push opt-in</a:t>
            </a:r>
          </a:p>
        </p:txBody>
      </p:sp>
      <p:sp>
        <p:nvSpPr>
          <p:cNvPr id="12" name="Rounded Rectangle 11">
            <a:extLst>
              <a:ext uri="{FF2B5EF4-FFF2-40B4-BE49-F238E27FC236}">
                <a16:creationId xmlns:a16="http://schemas.microsoft.com/office/drawing/2014/main" id="{369AEC85-4B38-4B13-B7C0-889A76907DE4}"/>
              </a:ext>
            </a:extLst>
          </p:cNvPr>
          <p:cNvSpPr>
            <a:spLocks noGrp="1"/>
          </p:cNvSpPr>
          <p:nvPr/>
        </p:nvSpPr>
        <p:spPr>
          <a:xfrm>
            <a:off x="5143500" y="4629150"/>
            <a:ext cx="2000250" cy="1028700"/>
          </a:xfrm>
          <a:prstGeom prst="roundRect">
            <a:avLst>
              <a:gd name="adj" fmla="val 12500"/>
            </a:avLst>
          </a:prstGeom>
          <a:solidFill>
            <a:srgbClr val="DDF3E6"/>
          </a:solidFill>
          <a:ln w="9525">
            <a:solidFill>
              <a:srgbClr val="E9DEDA"/>
            </a:solidFill>
            <a:prstDash val="solid"/>
          </a:ln>
        </p:spPr>
        <p:txBody>
          <a:bodyPr/>
          <a:lstStyle/>
          <a:p>
            <a:endParaRPr lang="en-DE"/>
          </a:p>
        </p:txBody>
      </p:sp>
      <p:sp>
        <p:nvSpPr>
          <p:cNvPr id="13" name="Rectangle 12">
            <a:extLst>
              <a:ext uri="{FF2B5EF4-FFF2-40B4-BE49-F238E27FC236}">
                <a16:creationId xmlns:a16="http://schemas.microsoft.com/office/drawing/2014/main" id="{3FF1863F-57F4-4750-98F2-06C62F2DE85B}"/>
              </a:ext>
            </a:extLst>
          </p:cNvPr>
          <p:cNvSpPr>
            <a:spLocks noGrp="1"/>
          </p:cNvSpPr>
          <p:nvPr/>
        </p:nvSpPr>
        <p:spPr>
          <a:xfrm>
            <a:off x="5314950" y="4762500"/>
            <a:ext cx="1657350" cy="323850"/>
          </a:xfrm>
          <a:prstGeom prst="rect">
            <a:avLst/>
          </a:prstGeom>
          <a:noFill/>
          <a:ln w="0">
            <a:noFill/>
            <a:prstDash val="solid"/>
          </a:ln>
        </p:spPr>
        <p:txBody>
          <a:bodyPr/>
          <a:lstStyle/>
          <a:p>
            <a:pPr>
              <a:defRPr sz="2250" b="1">
                <a:solidFill>
                  <a:srgbClr val="006C48"/>
                </a:solidFill>
              </a:defRPr>
            </a:pPr>
            <a:r>
              <a:rPr sz="2250" b="1">
                <a:solidFill>
                  <a:srgbClr val="006C48"/>
                </a:solidFill>
              </a:rPr>
              <a:t>61%</a:t>
            </a:r>
          </a:p>
        </p:txBody>
      </p:sp>
      <p:sp>
        <p:nvSpPr>
          <p:cNvPr id="14" name="Rectangle 13">
            <a:extLst>
              <a:ext uri="{FF2B5EF4-FFF2-40B4-BE49-F238E27FC236}">
                <a16:creationId xmlns:a16="http://schemas.microsoft.com/office/drawing/2014/main" id="{B3C963F1-3A6B-4B91-86CA-A475870873B8}"/>
              </a:ext>
            </a:extLst>
          </p:cNvPr>
          <p:cNvSpPr>
            <a:spLocks noGrp="1"/>
          </p:cNvSpPr>
          <p:nvPr/>
        </p:nvSpPr>
        <p:spPr>
          <a:xfrm>
            <a:off x="5314950" y="5143500"/>
            <a:ext cx="1657350" cy="323850"/>
          </a:xfrm>
          <a:prstGeom prst="rect">
            <a:avLst/>
          </a:prstGeom>
          <a:noFill/>
          <a:ln w="0">
            <a:noFill/>
            <a:prstDash val="solid"/>
          </a:ln>
        </p:spPr>
        <p:txBody>
          <a:bodyPr/>
          <a:lstStyle/>
          <a:p>
            <a:pPr>
              <a:defRPr sz="1200">
                <a:solidFill>
                  <a:srgbClr val="006C48"/>
                </a:solidFill>
              </a:defRPr>
            </a:pPr>
            <a:r>
              <a:rPr sz="1200" dirty="0">
                <a:solidFill>
                  <a:srgbClr val="006C48"/>
                </a:solidFill>
              </a:rPr>
              <a:t>purchase chance after cart</a:t>
            </a:r>
          </a:p>
        </p:txBody>
      </p:sp>
      <p:pic>
        <p:nvPicPr>
          <p:cNvPr id="33" name="Picture 32"/>
          <p:cNvPicPr>
            <a:picLocks noChangeAspect="1"/>
          </p:cNvPicPr>
          <p:nvPr/>
        </p:nvPicPr>
        <p:blipFill>
          <a:blip r:embed="rId3"/>
          <a:stretch/>
        </p:blipFill>
        <p:spPr>
          <a:xfrm>
            <a:off x="7586379" y="819150"/>
            <a:ext cx="1962717" cy="4267200"/>
          </a:xfrm>
          <a:prstGeom prst="roundRect">
            <a:avLst>
              <a:gd name="adj" fmla="val 7729"/>
            </a:avLst>
          </a:prstGeom>
        </p:spPr>
      </p:pic>
      <p:pic>
        <p:nvPicPr>
          <p:cNvPr id="34" name="Picture 33"/>
          <p:cNvPicPr>
            <a:picLocks noChangeAspect="1"/>
          </p:cNvPicPr>
          <p:nvPr/>
        </p:nvPicPr>
        <p:blipFill>
          <a:blip r:embed="rId4"/>
          <a:stretch/>
        </p:blipFill>
        <p:spPr>
          <a:xfrm>
            <a:off x="9108472" y="1790700"/>
            <a:ext cx="1918906" cy="4171950"/>
          </a:xfrm>
          <a:prstGeom prst="roundRect">
            <a:avLst>
              <a:gd name="adj" fmla="val 7921"/>
            </a:avLst>
          </a:prstGeom>
        </p:spPr>
      </p:pic>
      <p:sp>
        <p:nvSpPr>
          <p:cNvPr id="17" name="Rectangle 16">
            <a:extLst>
              <a:ext uri="{FF2B5EF4-FFF2-40B4-BE49-F238E27FC236}">
                <a16:creationId xmlns:a16="http://schemas.microsoft.com/office/drawing/2014/main" id="{C86845AF-3656-4998-B62F-303F1568B8A2}"/>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18" name="Rectangle 17">
            <a:extLst>
              <a:ext uri="{FF2B5EF4-FFF2-40B4-BE49-F238E27FC236}">
                <a16:creationId xmlns:a16="http://schemas.microsoft.com/office/drawing/2014/main" id="{8CED8748-83C3-4A41-B2C2-B8B57F44D2AF}"/>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1/18</a:t>
            </a:r>
          </a:p>
        </p:txBody>
      </p:sp>
    </p:spTree>
    <p:extLst>
      <p:ext uri="{BB962C8B-B14F-4D97-AF65-F5344CB8AC3E}">
        <p14:creationId xmlns:p14="http://schemas.microsoft.com/office/powerpoint/2010/main" val="301019140"/>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8F6"/>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E60D4F4F-EC65-48EA-958A-75BA38358E41}"/>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sz="975" b="1">
                <a:solidFill>
                  <a:srgbClr val="E4003A"/>
                </a:solidFill>
              </a:rPr>
              <a:t>EXPERIMENT PLAN</a:t>
            </a:r>
          </a:p>
        </p:txBody>
      </p:sp>
      <p:sp>
        <p:nvSpPr>
          <p:cNvPr id="2" name="Rectangle 1">
            <a:extLst>
              <a:ext uri="{FF2B5EF4-FFF2-40B4-BE49-F238E27FC236}">
                <a16:creationId xmlns:a16="http://schemas.microsoft.com/office/drawing/2014/main" id="{46164ABD-F246-4CF2-B0F1-8F01320307C7}"/>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sz="3150" b="1" dirty="0">
                <a:solidFill>
                  <a:srgbClr val="1B1C1B"/>
                </a:solidFill>
              </a:rPr>
              <a:t>Test sequence and timing separately so the </a:t>
            </a:r>
            <a:r>
              <a:rPr lang="en-US" sz="3150" b="1" dirty="0">
                <a:solidFill>
                  <a:srgbClr val="1B1C1B"/>
                </a:solidFill>
              </a:rPr>
              <a:t>data</a:t>
            </a:r>
            <a:r>
              <a:rPr sz="3150" b="1" dirty="0">
                <a:solidFill>
                  <a:srgbClr val="1B1C1B"/>
                </a:solidFill>
              </a:rPr>
              <a:t> </a:t>
            </a:r>
            <a:r>
              <a:rPr lang="en-US" sz="3150" b="1" dirty="0">
                <a:solidFill>
                  <a:srgbClr val="1B1C1B"/>
                </a:solidFill>
              </a:rPr>
              <a:t>can tell us </a:t>
            </a:r>
            <a:r>
              <a:rPr sz="3150" b="1" dirty="0">
                <a:solidFill>
                  <a:srgbClr val="1B1C1B"/>
                </a:solidFill>
              </a:rPr>
              <a:t>what moved the metric</a:t>
            </a:r>
          </a:p>
        </p:txBody>
      </p:sp>
      <p:sp>
        <p:nvSpPr>
          <p:cNvPr id="3" name="Rectangle 2">
            <a:extLst>
              <a:ext uri="{FF2B5EF4-FFF2-40B4-BE49-F238E27FC236}">
                <a16:creationId xmlns:a16="http://schemas.microsoft.com/office/drawing/2014/main" id="{0F990331-8D4E-4E63-8044-1FB80C2BEBB3}"/>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sz="1425">
                <a:solidFill>
                  <a:srgbClr val="645E5C"/>
                </a:solidFill>
              </a:rPr>
              <a:t>The current production flow can be the control. The next tests should isolate intent order, prompt timing, and branch landing quality.</a:t>
            </a:r>
          </a:p>
        </p:txBody>
      </p:sp>
      <p:sp>
        <p:nvSpPr>
          <p:cNvPr id="4" name="Rounded Rectangle 3">
            <a:extLst>
              <a:ext uri="{FF2B5EF4-FFF2-40B4-BE49-F238E27FC236}">
                <a16:creationId xmlns:a16="http://schemas.microsoft.com/office/drawing/2014/main" id="{B8A05C7E-5C05-4057-AAB4-7F0BA97A8919}"/>
              </a:ext>
            </a:extLst>
          </p:cNvPr>
          <p:cNvSpPr>
            <a:spLocks noGrp="1"/>
          </p:cNvSpPr>
          <p:nvPr/>
        </p:nvSpPr>
        <p:spPr>
          <a:xfrm>
            <a:off x="685800" y="2705100"/>
            <a:ext cx="10363200" cy="571500"/>
          </a:xfrm>
          <a:prstGeom prst="roundRect">
            <a:avLst>
              <a:gd name="adj" fmla="val 20000"/>
            </a:avLst>
          </a:prstGeom>
          <a:solidFill>
            <a:srgbClr val="FFFFFF"/>
          </a:solidFill>
          <a:ln w="9525">
            <a:solidFill>
              <a:srgbClr val="E9DEDA"/>
            </a:solidFill>
            <a:prstDash val="solid"/>
          </a:ln>
        </p:spPr>
        <p:txBody>
          <a:bodyPr/>
          <a:lstStyle/>
          <a:p>
            <a:endParaRPr lang="en-DE"/>
          </a:p>
        </p:txBody>
      </p:sp>
      <p:sp>
        <p:nvSpPr>
          <p:cNvPr id="5" name="Rectangle 4">
            <a:extLst>
              <a:ext uri="{FF2B5EF4-FFF2-40B4-BE49-F238E27FC236}">
                <a16:creationId xmlns:a16="http://schemas.microsoft.com/office/drawing/2014/main" id="{23A0F1EB-11B2-42BA-A5C4-F33088D76E78}"/>
              </a:ext>
            </a:extLst>
          </p:cNvPr>
          <p:cNvSpPr>
            <a:spLocks noGrp="1"/>
          </p:cNvSpPr>
          <p:nvPr/>
        </p:nvSpPr>
        <p:spPr>
          <a:xfrm>
            <a:off x="990600" y="2857500"/>
            <a:ext cx="1333500" cy="228600"/>
          </a:xfrm>
          <a:prstGeom prst="rect">
            <a:avLst/>
          </a:prstGeom>
          <a:noFill/>
          <a:ln w="0">
            <a:noFill/>
            <a:prstDash val="solid"/>
          </a:ln>
        </p:spPr>
        <p:txBody>
          <a:bodyPr/>
          <a:lstStyle/>
          <a:p>
            <a:pPr>
              <a:defRPr sz="1500" b="1">
                <a:solidFill>
                  <a:srgbClr val="1B1C1B"/>
                </a:solidFill>
              </a:defRPr>
            </a:pPr>
            <a:r>
              <a:rPr sz="1500" b="1">
                <a:solidFill>
                  <a:srgbClr val="1B1C1B"/>
                </a:solidFill>
              </a:rPr>
              <a:t>Control</a:t>
            </a:r>
          </a:p>
        </p:txBody>
      </p:sp>
      <p:sp>
        <p:nvSpPr>
          <p:cNvPr id="6" name="Rectangle 5">
            <a:extLst>
              <a:ext uri="{FF2B5EF4-FFF2-40B4-BE49-F238E27FC236}">
                <a16:creationId xmlns:a16="http://schemas.microsoft.com/office/drawing/2014/main" id="{F1D2D5E3-D2E6-4549-99D5-33EADE778C25}"/>
              </a:ext>
            </a:extLst>
          </p:cNvPr>
          <p:cNvSpPr>
            <a:spLocks noGrp="1"/>
          </p:cNvSpPr>
          <p:nvPr/>
        </p:nvSpPr>
        <p:spPr>
          <a:xfrm>
            <a:off x="2552700" y="2857500"/>
            <a:ext cx="2476500" cy="228600"/>
          </a:xfrm>
          <a:prstGeom prst="rect">
            <a:avLst/>
          </a:prstGeom>
          <a:noFill/>
          <a:ln w="0">
            <a:noFill/>
            <a:prstDash val="solid"/>
          </a:ln>
        </p:spPr>
        <p:txBody>
          <a:bodyPr/>
          <a:lstStyle/>
          <a:p>
            <a:pPr>
              <a:defRPr sz="1425" b="1">
                <a:solidFill>
                  <a:srgbClr val="1B1C1B"/>
                </a:solidFill>
              </a:defRPr>
            </a:pPr>
            <a:r>
              <a:rPr lang="en-US" sz="1425" b="1" dirty="0">
                <a:solidFill>
                  <a:srgbClr val="1B1C1B"/>
                </a:solidFill>
              </a:rPr>
              <a:t>Remove Redpoints</a:t>
            </a:r>
            <a:endParaRPr sz="1425" b="1" dirty="0">
              <a:solidFill>
                <a:srgbClr val="1B1C1B"/>
              </a:solidFill>
            </a:endParaRPr>
          </a:p>
        </p:txBody>
      </p:sp>
      <p:sp>
        <p:nvSpPr>
          <p:cNvPr id="7" name="Rectangle 6">
            <a:extLst>
              <a:ext uri="{FF2B5EF4-FFF2-40B4-BE49-F238E27FC236}">
                <a16:creationId xmlns:a16="http://schemas.microsoft.com/office/drawing/2014/main" id="{7EE74694-1B4B-4128-895F-284B5BE18ECF}"/>
              </a:ext>
            </a:extLst>
          </p:cNvPr>
          <p:cNvSpPr>
            <a:spLocks noGrp="1"/>
          </p:cNvSpPr>
          <p:nvPr/>
        </p:nvSpPr>
        <p:spPr>
          <a:xfrm>
            <a:off x="5353050" y="2847975"/>
            <a:ext cx="5143500" cy="247650"/>
          </a:xfrm>
          <a:prstGeom prst="rect">
            <a:avLst/>
          </a:prstGeom>
          <a:noFill/>
          <a:ln w="0">
            <a:noFill/>
            <a:prstDash val="solid"/>
          </a:ln>
        </p:spPr>
        <p:txBody>
          <a:bodyPr/>
          <a:lstStyle/>
          <a:p>
            <a:pPr>
              <a:defRPr sz="1275">
                <a:solidFill>
                  <a:srgbClr val="645E5C"/>
                </a:solidFill>
              </a:defRPr>
            </a:pPr>
            <a:r>
              <a:rPr sz="1275" dirty="0">
                <a:solidFill>
                  <a:srgbClr val="645E5C"/>
                </a:solidFill>
              </a:rPr>
              <a:t>Consent, auth/guest, push, intent split</a:t>
            </a:r>
          </a:p>
        </p:txBody>
      </p:sp>
      <p:sp>
        <p:nvSpPr>
          <p:cNvPr id="8" name="Rounded Rectangle 7">
            <a:extLst>
              <a:ext uri="{FF2B5EF4-FFF2-40B4-BE49-F238E27FC236}">
                <a16:creationId xmlns:a16="http://schemas.microsoft.com/office/drawing/2014/main" id="{7AED1169-64CD-4484-B311-3BF1F32BF03F}"/>
              </a:ext>
            </a:extLst>
          </p:cNvPr>
          <p:cNvSpPr>
            <a:spLocks noGrp="1"/>
          </p:cNvSpPr>
          <p:nvPr/>
        </p:nvSpPr>
        <p:spPr>
          <a:xfrm>
            <a:off x="685800" y="3486150"/>
            <a:ext cx="10363200" cy="571500"/>
          </a:xfrm>
          <a:prstGeom prst="roundRect">
            <a:avLst>
              <a:gd name="adj" fmla="val 20000"/>
            </a:avLst>
          </a:prstGeom>
          <a:solidFill>
            <a:srgbClr val="FFF1EA"/>
          </a:solidFill>
          <a:ln w="9525">
            <a:solidFill>
              <a:srgbClr val="E9DEDA"/>
            </a:solidFill>
            <a:prstDash val="solid"/>
          </a:ln>
        </p:spPr>
        <p:txBody>
          <a:bodyPr/>
          <a:lstStyle/>
          <a:p>
            <a:endParaRPr lang="en-DE"/>
          </a:p>
        </p:txBody>
      </p:sp>
      <p:sp>
        <p:nvSpPr>
          <p:cNvPr id="9" name="Rectangle 8">
            <a:extLst>
              <a:ext uri="{FF2B5EF4-FFF2-40B4-BE49-F238E27FC236}">
                <a16:creationId xmlns:a16="http://schemas.microsoft.com/office/drawing/2014/main" id="{02B23331-7985-44CA-A705-D55A3D37B125}"/>
              </a:ext>
            </a:extLst>
          </p:cNvPr>
          <p:cNvSpPr>
            <a:spLocks noGrp="1"/>
          </p:cNvSpPr>
          <p:nvPr/>
        </p:nvSpPr>
        <p:spPr>
          <a:xfrm>
            <a:off x="990600" y="3638550"/>
            <a:ext cx="1333500" cy="228600"/>
          </a:xfrm>
          <a:prstGeom prst="rect">
            <a:avLst/>
          </a:prstGeom>
          <a:noFill/>
          <a:ln w="0">
            <a:noFill/>
            <a:prstDash val="solid"/>
          </a:ln>
        </p:spPr>
        <p:txBody>
          <a:bodyPr/>
          <a:lstStyle/>
          <a:p>
            <a:pPr>
              <a:defRPr sz="1500" b="1">
                <a:solidFill>
                  <a:srgbClr val="E4003A"/>
                </a:solidFill>
              </a:defRPr>
            </a:pPr>
            <a:r>
              <a:rPr sz="1500" b="1">
                <a:solidFill>
                  <a:srgbClr val="E4003A"/>
                </a:solidFill>
              </a:rPr>
              <a:t>Variant 1</a:t>
            </a:r>
          </a:p>
        </p:txBody>
      </p:sp>
      <p:sp>
        <p:nvSpPr>
          <p:cNvPr id="10" name="Rectangle 9">
            <a:extLst>
              <a:ext uri="{FF2B5EF4-FFF2-40B4-BE49-F238E27FC236}">
                <a16:creationId xmlns:a16="http://schemas.microsoft.com/office/drawing/2014/main" id="{E4B64E09-59DA-4A2E-B19A-EED282532360}"/>
              </a:ext>
            </a:extLst>
          </p:cNvPr>
          <p:cNvSpPr>
            <a:spLocks noGrp="1"/>
          </p:cNvSpPr>
          <p:nvPr/>
        </p:nvSpPr>
        <p:spPr>
          <a:xfrm>
            <a:off x="2552700" y="3638550"/>
            <a:ext cx="2476500" cy="228600"/>
          </a:xfrm>
          <a:prstGeom prst="rect">
            <a:avLst/>
          </a:prstGeom>
          <a:noFill/>
          <a:ln w="0">
            <a:noFill/>
            <a:prstDash val="solid"/>
          </a:ln>
        </p:spPr>
        <p:txBody>
          <a:bodyPr/>
          <a:lstStyle/>
          <a:p>
            <a:pPr>
              <a:defRPr sz="1425" b="1">
                <a:solidFill>
                  <a:srgbClr val="1B1C1B"/>
                </a:solidFill>
              </a:defRPr>
            </a:pPr>
            <a:r>
              <a:rPr sz="1425" b="1">
                <a:solidFill>
                  <a:srgbClr val="1B1C1B"/>
                </a:solidFill>
              </a:rPr>
              <a:t>Intent-first sequencing</a:t>
            </a:r>
          </a:p>
        </p:txBody>
      </p:sp>
      <p:sp>
        <p:nvSpPr>
          <p:cNvPr id="11" name="Rectangle 10">
            <a:extLst>
              <a:ext uri="{FF2B5EF4-FFF2-40B4-BE49-F238E27FC236}">
                <a16:creationId xmlns:a16="http://schemas.microsoft.com/office/drawing/2014/main" id="{ED11B03C-E361-412C-AFE1-23B431CAF990}"/>
              </a:ext>
            </a:extLst>
          </p:cNvPr>
          <p:cNvSpPr>
            <a:spLocks noGrp="1"/>
          </p:cNvSpPr>
          <p:nvPr/>
        </p:nvSpPr>
        <p:spPr>
          <a:xfrm>
            <a:off x="5353050" y="3629025"/>
            <a:ext cx="5143500" cy="247650"/>
          </a:xfrm>
          <a:prstGeom prst="rect">
            <a:avLst/>
          </a:prstGeom>
          <a:noFill/>
          <a:ln w="0">
            <a:noFill/>
            <a:prstDash val="solid"/>
          </a:ln>
        </p:spPr>
        <p:txBody>
          <a:bodyPr/>
          <a:lstStyle/>
          <a:p>
            <a:pPr>
              <a:defRPr sz="1275">
                <a:solidFill>
                  <a:srgbClr val="645E5C"/>
                </a:solidFill>
              </a:defRPr>
            </a:pPr>
            <a:r>
              <a:rPr sz="1275">
                <a:solidFill>
                  <a:srgbClr val="645E5C"/>
                </a:solidFill>
              </a:rPr>
              <a:t>Consent, intent split, then authentication or guest path only when needed</a:t>
            </a:r>
          </a:p>
        </p:txBody>
      </p:sp>
      <p:sp>
        <p:nvSpPr>
          <p:cNvPr id="12" name="Rounded Rectangle 11">
            <a:extLst>
              <a:ext uri="{FF2B5EF4-FFF2-40B4-BE49-F238E27FC236}">
                <a16:creationId xmlns:a16="http://schemas.microsoft.com/office/drawing/2014/main" id="{3B9D8B66-1F7D-427B-8B61-AD93C2895A9F}"/>
              </a:ext>
            </a:extLst>
          </p:cNvPr>
          <p:cNvSpPr>
            <a:spLocks noGrp="1"/>
          </p:cNvSpPr>
          <p:nvPr/>
        </p:nvSpPr>
        <p:spPr>
          <a:xfrm>
            <a:off x="685800" y="4267200"/>
            <a:ext cx="10363200" cy="571500"/>
          </a:xfrm>
          <a:prstGeom prst="roundRect">
            <a:avLst>
              <a:gd name="adj" fmla="val 20000"/>
            </a:avLst>
          </a:prstGeom>
          <a:solidFill>
            <a:srgbClr val="DDF3E6"/>
          </a:solidFill>
          <a:ln w="9525">
            <a:solidFill>
              <a:srgbClr val="E9DEDA"/>
            </a:solidFill>
            <a:prstDash val="solid"/>
          </a:ln>
        </p:spPr>
        <p:txBody>
          <a:bodyPr/>
          <a:lstStyle/>
          <a:p>
            <a:endParaRPr lang="en-DE" dirty="0"/>
          </a:p>
        </p:txBody>
      </p:sp>
      <p:sp>
        <p:nvSpPr>
          <p:cNvPr id="13" name="Rectangle 12">
            <a:extLst>
              <a:ext uri="{FF2B5EF4-FFF2-40B4-BE49-F238E27FC236}">
                <a16:creationId xmlns:a16="http://schemas.microsoft.com/office/drawing/2014/main" id="{D156950C-43CA-4EE0-B0F9-3256BEC2E8DE}"/>
              </a:ext>
            </a:extLst>
          </p:cNvPr>
          <p:cNvSpPr>
            <a:spLocks noGrp="1"/>
          </p:cNvSpPr>
          <p:nvPr/>
        </p:nvSpPr>
        <p:spPr>
          <a:xfrm>
            <a:off x="990600" y="4419600"/>
            <a:ext cx="1333500" cy="228600"/>
          </a:xfrm>
          <a:prstGeom prst="rect">
            <a:avLst/>
          </a:prstGeom>
          <a:noFill/>
          <a:ln w="0">
            <a:noFill/>
            <a:prstDash val="solid"/>
          </a:ln>
        </p:spPr>
        <p:txBody>
          <a:bodyPr/>
          <a:lstStyle/>
          <a:p>
            <a:pPr>
              <a:defRPr sz="1500" b="1">
                <a:solidFill>
                  <a:srgbClr val="006C48"/>
                </a:solidFill>
              </a:defRPr>
            </a:pPr>
            <a:r>
              <a:rPr sz="1500" b="1">
                <a:solidFill>
                  <a:srgbClr val="006C48"/>
                </a:solidFill>
              </a:rPr>
              <a:t>Variant 2</a:t>
            </a:r>
          </a:p>
        </p:txBody>
      </p:sp>
      <p:sp>
        <p:nvSpPr>
          <p:cNvPr id="14" name="Rectangle 13">
            <a:extLst>
              <a:ext uri="{FF2B5EF4-FFF2-40B4-BE49-F238E27FC236}">
                <a16:creationId xmlns:a16="http://schemas.microsoft.com/office/drawing/2014/main" id="{F1DFDD7A-CA09-4AF2-96B3-AA71B433573F}"/>
              </a:ext>
            </a:extLst>
          </p:cNvPr>
          <p:cNvSpPr>
            <a:spLocks noGrp="1"/>
          </p:cNvSpPr>
          <p:nvPr/>
        </p:nvSpPr>
        <p:spPr>
          <a:xfrm>
            <a:off x="2552700" y="4419600"/>
            <a:ext cx="2476500" cy="228600"/>
          </a:xfrm>
          <a:prstGeom prst="rect">
            <a:avLst/>
          </a:prstGeom>
          <a:noFill/>
          <a:ln w="0">
            <a:noFill/>
            <a:prstDash val="solid"/>
          </a:ln>
        </p:spPr>
        <p:txBody>
          <a:bodyPr/>
          <a:lstStyle/>
          <a:p>
            <a:pPr>
              <a:defRPr sz="1425" b="1">
                <a:solidFill>
                  <a:srgbClr val="1B1C1B"/>
                </a:solidFill>
              </a:defRPr>
            </a:pPr>
            <a:r>
              <a:rPr lang="en-US" sz="1425" b="1" dirty="0">
                <a:solidFill>
                  <a:srgbClr val="1B1C1B"/>
                </a:solidFill>
              </a:rPr>
              <a:t>Trigger based Push</a:t>
            </a:r>
            <a:endParaRPr sz="1425" b="1" dirty="0">
              <a:solidFill>
                <a:srgbClr val="1B1C1B"/>
              </a:solidFill>
            </a:endParaRPr>
          </a:p>
        </p:txBody>
      </p:sp>
      <p:sp>
        <p:nvSpPr>
          <p:cNvPr id="15" name="Rectangle 14">
            <a:extLst>
              <a:ext uri="{FF2B5EF4-FFF2-40B4-BE49-F238E27FC236}">
                <a16:creationId xmlns:a16="http://schemas.microsoft.com/office/drawing/2014/main" id="{57B15B8C-6972-43F2-9E0B-B91BCC235FAD}"/>
              </a:ext>
            </a:extLst>
          </p:cNvPr>
          <p:cNvSpPr>
            <a:spLocks noGrp="1"/>
          </p:cNvSpPr>
          <p:nvPr/>
        </p:nvSpPr>
        <p:spPr>
          <a:xfrm>
            <a:off x="5353050" y="4410075"/>
            <a:ext cx="5143500" cy="247650"/>
          </a:xfrm>
          <a:prstGeom prst="rect">
            <a:avLst/>
          </a:prstGeom>
          <a:noFill/>
          <a:ln w="0">
            <a:noFill/>
            <a:prstDash val="solid"/>
          </a:ln>
        </p:spPr>
        <p:txBody>
          <a:bodyPr/>
          <a:lstStyle/>
          <a:p>
            <a:pPr>
              <a:defRPr sz="1275">
                <a:solidFill>
                  <a:srgbClr val="645E5C"/>
                </a:solidFill>
              </a:defRPr>
            </a:pPr>
            <a:r>
              <a:rPr sz="1275" dirty="0">
                <a:solidFill>
                  <a:srgbClr val="645E5C"/>
                </a:solidFill>
              </a:rPr>
              <a:t>Push after </a:t>
            </a:r>
            <a:r>
              <a:rPr sz="1275" dirty="0" err="1">
                <a:solidFill>
                  <a:srgbClr val="645E5C"/>
                </a:solidFill>
              </a:rPr>
              <a:t>eRx</a:t>
            </a:r>
            <a:r>
              <a:rPr sz="1275" dirty="0">
                <a:solidFill>
                  <a:srgbClr val="645E5C"/>
                </a:solidFill>
              </a:rPr>
              <a:t> setup</a:t>
            </a:r>
            <a:r>
              <a:rPr lang="en-US" sz="1275" dirty="0">
                <a:solidFill>
                  <a:srgbClr val="645E5C"/>
                </a:solidFill>
              </a:rPr>
              <a:t>,</a:t>
            </a:r>
            <a:r>
              <a:rPr sz="1275" dirty="0">
                <a:solidFill>
                  <a:srgbClr val="645E5C"/>
                </a:solidFill>
              </a:rPr>
              <a:t> or order value</a:t>
            </a:r>
            <a:r>
              <a:rPr lang="en-US" sz="1275" dirty="0">
                <a:solidFill>
                  <a:srgbClr val="645E5C"/>
                </a:solidFill>
              </a:rPr>
              <a:t>, coupon reminder, cart reminder</a:t>
            </a:r>
            <a:endParaRPr sz="1275" dirty="0">
              <a:solidFill>
                <a:srgbClr val="645E5C"/>
              </a:solidFill>
            </a:endParaRPr>
          </a:p>
        </p:txBody>
      </p:sp>
      <p:sp>
        <p:nvSpPr>
          <p:cNvPr id="16" name="Rounded Rectangle 15">
            <a:extLst>
              <a:ext uri="{FF2B5EF4-FFF2-40B4-BE49-F238E27FC236}">
                <a16:creationId xmlns:a16="http://schemas.microsoft.com/office/drawing/2014/main" id="{D4AC62D3-9E8B-4B3E-ADEA-0B1D2FA49DD9}"/>
              </a:ext>
            </a:extLst>
          </p:cNvPr>
          <p:cNvSpPr>
            <a:spLocks noGrp="1"/>
          </p:cNvSpPr>
          <p:nvPr/>
        </p:nvSpPr>
        <p:spPr>
          <a:xfrm>
            <a:off x="685800" y="5048250"/>
            <a:ext cx="10363200" cy="762000"/>
          </a:xfrm>
          <a:prstGeom prst="roundRect">
            <a:avLst>
              <a:gd name="adj" fmla="val 20000"/>
            </a:avLst>
          </a:prstGeom>
          <a:solidFill>
            <a:srgbClr val="DDF3E6"/>
          </a:solidFill>
          <a:ln w="9525">
            <a:solidFill>
              <a:srgbClr val="E9DEDA"/>
            </a:solidFill>
            <a:prstDash val="solid"/>
          </a:ln>
        </p:spPr>
        <p:txBody>
          <a:bodyPr/>
          <a:lstStyle/>
          <a:p>
            <a:endParaRPr lang="en-DE" dirty="0"/>
          </a:p>
        </p:txBody>
      </p:sp>
      <p:sp>
        <p:nvSpPr>
          <p:cNvPr id="17" name="Rectangle 16">
            <a:extLst>
              <a:ext uri="{FF2B5EF4-FFF2-40B4-BE49-F238E27FC236}">
                <a16:creationId xmlns:a16="http://schemas.microsoft.com/office/drawing/2014/main" id="{B566B13E-FB2D-42C9-A431-01B1D2DAE66C}"/>
              </a:ext>
            </a:extLst>
          </p:cNvPr>
          <p:cNvSpPr>
            <a:spLocks noGrp="1"/>
          </p:cNvSpPr>
          <p:nvPr/>
        </p:nvSpPr>
        <p:spPr>
          <a:xfrm>
            <a:off x="990600" y="5200650"/>
            <a:ext cx="1333500" cy="228600"/>
          </a:xfrm>
          <a:prstGeom prst="rect">
            <a:avLst/>
          </a:prstGeom>
          <a:noFill/>
          <a:ln w="0">
            <a:noFill/>
            <a:prstDash val="solid"/>
          </a:ln>
        </p:spPr>
        <p:txBody>
          <a:bodyPr/>
          <a:lstStyle/>
          <a:p>
            <a:pPr>
              <a:defRPr sz="1500" b="1">
                <a:solidFill>
                  <a:srgbClr val="006C48"/>
                </a:solidFill>
              </a:defRPr>
            </a:pPr>
            <a:r>
              <a:rPr sz="1500" b="1">
                <a:solidFill>
                  <a:srgbClr val="006C48"/>
                </a:solidFill>
              </a:rPr>
              <a:t>Variant 3</a:t>
            </a:r>
          </a:p>
        </p:txBody>
      </p:sp>
      <p:sp>
        <p:nvSpPr>
          <p:cNvPr id="18" name="Rectangle 17">
            <a:extLst>
              <a:ext uri="{FF2B5EF4-FFF2-40B4-BE49-F238E27FC236}">
                <a16:creationId xmlns:a16="http://schemas.microsoft.com/office/drawing/2014/main" id="{F9EC152F-A303-4CA9-9E99-5B3C2253D679}"/>
              </a:ext>
            </a:extLst>
          </p:cNvPr>
          <p:cNvSpPr>
            <a:spLocks noGrp="1"/>
          </p:cNvSpPr>
          <p:nvPr/>
        </p:nvSpPr>
        <p:spPr>
          <a:xfrm>
            <a:off x="2552700" y="5200650"/>
            <a:ext cx="2476500" cy="228600"/>
          </a:xfrm>
          <a:prstGeom prst="rect">
            <a:avLst/>
          </a:prstGeom>
          <a:noFill/>
          <a:ln w="0">
            <a:noFill/>
            <a:prstDash val="solid"/>
          </a:ln>
        </p:spPr>
        <p:txBody>
          <a:bodyPr/>
          <a:lstStyle/>
          <a:p>
            <a:pPr>
              <a:defRPr sz="1425" b="1">
                <a:solidFill>
                  <a:srgbClr val="1B1C1B"/>
                </a:solidFill>
              </a:defRPr>
            </a:pPr>
            <a:r>
              <a:rPr lang="en-US" sz="1425" b="1" dirty="0">
                <a:solidFill>
                  <a:srgbClr val="1B1C1B"/>
                </a:solidFill>
              </a:rPr>
              <a:t>Deals available via Push</a:t>
            </a:r>
            <a:endParaRPr sz="1425" b="1" dirty="0">
              <a:solidFill>
                <a:srgbClr val="1B1C1B"/>
              </a:solidFill>
            </a:endParaRPr>
          </a:p>
        </p:txBody>
      </p:sp>
      <p:sp>
        <p:nvSpPr>
          <p:cNvPr id="19" name="Rectangle 18">
            <a:extLst>
              <a:ext uri="{FF2B5EF4-FFF2-40B4-BE49-F238E27FC236}">
                <a16:creationId xmlns:a16="http://schemas.microsoft.com/office/drawing/2014/main" id="{B2CEC608-BB75-40A7-9534-31BCABC1CD93}"/>
              </a:ext>
            </a:extLst>
          </p:cNvPr>
          <p:cNvSpPr>
            <a:spLocks noGrp="1"/>
          </p:cNvSpPr>
          <p:nvPr/>
        </p:nvSpPr>
        <p:spPr>
          <a:xfrm>
            <a:off x="5353050" y="5079614"/>
            <a:ext cx="5695950" cy="730635"/>
          </a:xfrm>
          <a:prstGeom prst="rect">
            <a:avLst/>
          </a:prstGeom>
          <a:noFill/>
          <a:ln w="0">
            <a:noFill/>
            <a:prstDash val="solid"/>
          </a:ln>
        </p:spPr>
        <p:txBody>
          <a:bodyPr/>
          <a:lstStyle/>
          <a:p>
            <a:pPr>
              <a:defRPr sz="1275">
                <a:solidFill>
                  <a:srgbClr val="645E5C"/>
                </a:solidFill>
              </a:defRPr>
            </a:pPr>
            <a:r>
              <a:rPr lang="en-GB" sz="1275" dirty="0"/>
              <a:t>Every day a new exclusive flash deal: Enable push. Everyone would see that as first thing on the home and maybe guests would be interested to get limited exclusive deals. The idea is, you can opt-in to receive these exclusive deals via push or email. </a:t>
            </a:r>
            <a:endParaRPr sz="1275" dirty="0">
              <a:solidFill>
                <a:srgbClr val="645E5C"/>
              </a:solidFill>
            </a:endParaRPr>
          </a:p>
        </p:txBody>
      </p:sp>
      <p:sp>
        <p:nvSpPr>
          <p:cNvPr id="20" name="Rectangle 19">
            <a:extLst>
              <a:ext uri="{FF2B5EF4-FFF2-40B4-BE49-F238E27FC236}">
                <a16:creationId xmlns:a16="http://schemas.microsoft.com/office/drawing/2014/main" id="{03A2AA6A-9839-4E3A-945F-DDBFA1579153}"/>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21" name="Rectangle 20">
            <a:extLst>
              <a:ext uri="{FF2B5EF4-FFF2-40B4-BE49-F238E27FC236}">
                <a16:creationId xmlns:a16="http://schemas.microsoft.com/office/drawing/2014/main" id="{B6CC8E25-DCFD-442F-9449-D8768F770236}"/>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15/18</a:t>
            </a:r>
          </a:p>
        </p:txBody>
      </p:sp>
    </p:spTree>
    <p:extLst>
      <p:ext uri="{BB962C8B-B14F-4D97-AF65-F5344CB8AC3E}">
        <p14:creationId xmlns:p14="http://schemas.microsoft.com/office/powerpoint/2010/main" val="640316721"/>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7"/>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33ACAAD-AB71-43A0-857C-26AD041DC9BB}"/>
              </a:ext>
            </a:extLst>
          </p:cNvPr>
          <p:cNvSpPr>
            <a:spLocks noGrp="1"/>
          </p:cNvSpPr>
          <p:nvPr/>
        </p:nvSpPr>
        <p:spPr>
          <a:xfrm>
            <a:off x="609600" y="400050"/>
            <a:ext cx="4953000" cy="266700"/>
          </a:xfrm>
          <a:prstGeom prst="rect">
            <a:avLst/>
          </a:prstGeom>
          <a:noFill/>
          <a:ln w="0">
            <a:noFill/>
            <a:prstDash val="solid"/>
          </a:ln>
        </p:spPr>
        <p:txBody>
          <a:bodyPr/>
          <a:lstStyle/>
          <a:p>
            <a:pPr>
              <a:defRPr sz="975" b="1">
                <a:solidFill>
                  <a:srgbClr val="E4003A"/>
                </a:solidFill>
              </a:defRPr>
            </a:pPr>
            <a:r>
              <a:rPr sz="975" b="1">
                <a:solidFill>
                  <a:srgbClr val="E4003A"/>
                </a:solidFill>
              </a:rPr>
              <a:t>FINAL JOURNEY</a:t>
            </a:r>
          </a:p>
        </p:txBody>
      </p:sp>
      <p:sp>
        <p:nvSpPr>
          <p:cNvPr id="2" name="Rectangle 1">
            <a:extLst>
              <a:ext uri="{FF2B5EF4-FFF2-40B4-BE49-F238E27FC236}">
                <a16:creationId xmlns:a16="http://schemas.microsoft.com/office/drawing/2014/main" id="{3CA6A099-3B0F-4F16-85B0-D5FC78664666}"/>
              </a:ext>
            </a:extLst>
          </p:cNvPr>
          <p:cNvSpPr>
            <a:spLocks noGrp="1"/>
          </p:cNvSpPr>
          <p:nvPr/>
        </p:nvSpPr>
        <p:spPr>
          <a:xfrm>
            <a:off x="609600" y="781050"/>
            <a:ext cx="8096250" cy="990600"/>
          </a:xfrm>
          <a:prstGeom prst="rect">
            <a:avLst/>
          </a:prstGeom>
          <a:noFill/>
          <a:ln w="0">
            <a:noFill/>
            <a:prstDash val="solid"/>
          </a:ln>
        </p:spPr>
        <p:txBody>
          <a:bodyPr/>
          <a:lstStyle/>
          <a:p>
            <a:pPr>
              <a:defRPr sz="3150" b="1">
                <a:solidFill>
                  <a:srgbClr val="1B1C1B"/>
                </a:solidFill>
              </a:defRPr>
            </a:pPr>
            <a:r>
              <a:rPr sz="3150" b="1">
                <a:solidFill>
                  <a:srgbClr val="1B1C1B"/>
                </a:solidFill>
              </a:rPr>
              <a:t>The final onboarding is a short router, then contextual asks</a:t>
            </a:r>
          </a:p>
        </p:txBody>
      </p:sp>
      <p:sp>
        <p:nvSpPr>
          <p:cNvPr id="3" name="Rectangle 2">
            <a:extLst>
              <a:ext uri="{FF2B5EF4-FFF2-40B4-BE49-F238E27FC236}">
                <a16:creationId xmlns:a16="http://schemas.microsoft.com/office/drawing/2014/main" id="{CF734426-6956-4184-80ED-5E3D675CC8C4}"/>
              </a:ext>
            </a:extLst>
          </p:cNvPr>
          <p:cNvSpPr>
            <a:spLocks noGrp="1"/>
          </p:cNvSpPr>
          <p:nvPr/>
        </p:nvSpPr>
        <p:spPr>
          <a:xfrm>
            <a:off x="609600" y="1790700"/>
            <a:ext cx="7524750" cy="552450"/>
          </a:xfrm>
          <a:prstGeom prst="rect">
            <a:avLst/>
          </a:prstGeom>
          <a:noFill/>
          <a:ln w="0">
            <a:noFill/>
            <a:prstDash val="solid"/>
          </a:ln>
        </p:spPr>
        <p:txBody>
          <a:bodyPr/>
          <a:lstStyle/>
          <a:p>
            <a:pPr>
              <a:defRPr sz="1425">
                <a:solidFill>
                  <a:srgbClr val="645E5C"/>
                </a:solidFill>
              </a:defRPr>
            </a:pPr>
            <a:r>
              <a:rPr sz="1425" dirty="0">
                <a:solidFill>
                  <a:srgbClr val="645E5C"/>
                </a:solidFill>
              </a:rPr>
              <a:t>Onboarding only includes consent and intent. Login, </a:t>
            </a:r>
            <a:r>
              <a:rPr sz="1425" dirty="0" err="1">
                <a:solidFill>
                  <a:srgbClr val="645E5C"/>
                </a:solidFill>
              </a:rPr>
              <a:t>RedPoints</a:t>
            </a:r>
            <a:r>
              <a:rPr sz="1425" dirty="0">
                <a:solidFill>
                  <a:srgbClr val="645E5C"/>
                </a:solidFill>
              </a:rPr>
              <a:t>, and push </a:t>
            </a:r>
            <a:r>
              <a:rPr lang="en-US" sz="1425" dirty="0">
                <a:solidFill>
                  <a:srgbClr val="645E5C"/>
                </a:solidFill>
              </a:rPr>
              <a:t>permissions </a:t>
            </a:r>
            <a:r>
              <a:rPr sz="1425" dirty="0">
                <a:solidFill>
                  <a:srgbClr val="645E5C"/>
                </a:solidFill>
              </a:rPr>
              <a:t>move to moments where the user can understand why they matter.</a:t>
            </a:r>
          </a:p>
        </p:txBody>
      </p:sp>
      <p:sp>
        <p:nvSpPr>
          <p:cNvPr id="4" name="Rounded Rectangle 3">
            <a:extLst>
              <a:ext uri="{FF2B5EF4-FFF2-40B4-BE49-F238E27FC236}">
                <a16:creationId xmlns:a16="http://schemas.microsoft.com/office/drawing/2014/main" id="{E127CE3A-0F71-48DE-908B-A195140A20C8}"/>
              </a:ext>
            </a:extLst>
          </p:cNvPr>
          <p:cNvSpPr>
            <a:spLocks noGrp="1"/>
          </p:cNvSpPr>
          <p:nvPr/>
        </p:nvSpPr>
        <p:spPr>
          <a:xfrm>
            <a:off x="609600" y="2305050"/>
            <a:ext cx="10972800" cy="3333750"/>
          </a:xfrm>
          <a:prstGeom prst="roundRect">
            <a:avLst>
              <a:gd name="adj" fmla="val 3429"/>
            </a:avLst>
          </a:prstGeom>
          <a:solidFill>
            <a:srgbClr val="FFFFFF"/>
          </a:solidFill>
          <a:ln w="9525">
            <a:solidFill>
              <a:srgbClr val="E9DEDA"/>
            </a:solidFill>
            <a:prstDash val="solid"/>
          </a:ln>
        </p:spPr>
        <p:txBody>
          <a:bodyPr/>
          <a:lstStyle/>
          <a:p>
            <a:endParaRPr lang="en-DE"/>
          </a:p>
        </p:txBody>
      </p:sp>
      <p:pic>
        <p:nvPicPr>
          <p:cNvPr id="36" name="Picture 35"/>
          <p:cNvPicPr>
            <a:picLocks noChangeAspect="1"/>
          </p:cNvPicPr>
          <p:nvPr/>
        </p:nvPicPr>
        <p:blipFill>
          <a:blip r:embed="rId3"/>
          <a:stretch/>
        </p:blipFill>
        <p:spPr>
          <a:xfrm>
            <a:off x="800100" y="2502993"/>
            <a:ext cx="1276350" cy="2766414"/>
          </a:xfrm>
          <a:prstGeom prst="roundRect">
            <a:avLst>
              <a:gd name="adj" fmla="val 8955"/>
            </a:avLst>
          </a:prstGeom>
        </p:spPr>
      </p:pic>
      <p:sp>
        <p:nvSpPr>
          <p:cNvPr id="6" name="Rectangle 5">
            <a:extLst>
              <a:ext uri="{FF2B5EF4-FFF2-40B4-BE49-F238E27FC236}">
                <a16:creationId xmlns:a16="http://schemas.microsoft.com/office/drawing/2014/main" id="{825855EE-423C-4A3A-AE51-892370ED0322}"/>
              </a:ext>
            </a:extLst>
          </p:cNvPr>
          <p:cNvSpPr>
            <a:spLocks noGrp="1"/>
          </p:cNvSpPr>
          <p:nvPr/>
        </p:nvSpPr>
        <p:spPr>
          <a:xfrm>
            <a:off x="723900" y="5353050"/>
            <a:ext cx="1428750" cy="190500"/>
          </a:xfrm>
          <a:prstGeom prst="rect">
            <a:avLst/>
          </a:prstGeom>
          <a:noFill/>
          <a:ln w="0">
            <a:noFill/>
            <a:prstDash val="solid"/>
          </a:ln>
        </p:spPr>
        <p:txBody>
          <a:bodyPr/>
          <a:lstStyle/>
          <a:p>
            <a:pPr algn="ctr">
              <a:defRPr sz="1050" b="1">
                <a:solidFill>
                  <a:srgbClr val="E4003A"/>
                </a:solidFill>
              </a:defRPr>
            </a:pPr>
            <a:r>
              <a:rPr sz="1050" b="1">
                <a:solidFill>
                  <a:srgbClr val="E4003A"/>
                </a:solidFill>
              </a:rPr>
              <a:t>Consent</a:t>
            </a:r>
          </a:p>
        </p:txBody>
      </p:sp>
      <p:sp>
        <p:nvSpPr>
          <p:cNvPr id="7" name="Rectangle 6">
            <a:extLst>
              <a:ext uri="{FF2B5EF4-FFF2-40B4-BE49-F238E27FC236}">
                <a16:creationId xmlns:a16="http://schemas.microsoft.com/office/drawing/2014/main" id="{F2B0C48F-17C2-4EF2-8514-B8207658D468}"/>
              </a:ext>
            </a:extLst>
          </p:cNvPr>
          <p:cNvSpPr>
            <a:spLocks noGrp="1"/>
          </p:cNvSpPr>
          <p:nvPr/>
        </p:nvSpPr>
        <p:spPr>
          <a:xfrm>
            <a:off x="723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Keep legal choice compact</a:t>
            </a:r>
          </a:p>
        </p:txBody>
      </p:sp>
      <p:pic>
        <p:nvPicPr>
          <p:cNvPr id="39" name="Picture 38"/>
          <p:cNvPicPr>
            <a:picLocks noChangeAspect="1"/>
          </p:cNvPicPr>
          <p:nvPr/>
        </p:nvPicPr>
        <p:blipFill>
          <a:blip r:embed="rId4"/>
          <a:stretch/>
        </p:blipFill>
        <p:spPr>
          <a:xfrm>
            <a:off x="2324100" y="2502993"/>
            <a:ext cx="1276350" cy="2766414"/>
          </a:xfrm>
          <a:prstGeom prst="roundRect">
            <a:avLst>
              <a:gd name="adj" fmla="val 8955"/>
            </a:avLst>
          </a:prstGeom>
        </p:spPr>
      </p:pic>
      <p:sp>
        <p:nvSpPr>
          <p:cNvPr id="9" name="Rectangle 8">
            <a:extLst>
              <a:ext uri="{FF2B5EF4-FFF2-40B4-BE49-F238E27FC236}">
                <a16:creationId xmlns:a16="http://schemas.microsoft.com/office/drawing/2014/main" id="{B6196DF0-CA19-4B62-83C5-F28EDE6AC9A0}"/>
              </a:ext>
            </a:extLst>
          </p:cNvPr>
          <p:cNvSpPr>
            <a:spLocks noGrp="1"/>
          </p:cNvSpPr>
          <p:nvPr/>
        </p:nvSpPr>
        <p:spPr>
          <a:xfrm>
            <a:off x="2247900" y="5353050"/>
            <a:ext cx="1428750" cy="190500"/>
          </a:xfrm>
          <a:prstGeom prst="rect">
            <a:avLst/>
          </a:prstGeom>
          <a:noFill/>
          <a:ln w="0">
            <a:noFill/>
            <a:prstDash val="solid"/>
          </a:ln>
        </p:spPr>
        <p:txBody>
          <a:bodyPr/>
          <a:lstStyle/>
          <a:p>
            <a:pPr algn="ctr">
              <a:defRPr sz="1050" b="1">
                <a:solidFill>
                  <a:srgbClr val="E4003A"/>
                </a:solidFill>
              </a:defRPr>
            </a:pPr>
            <a:r>
              <a:rPr sz="1050" b="1">
                <a:solidFill>
                  <a:srgbClr val="E4003A"/>
                </a:solidFill>
              </a:rPr>
              <a:t>Intent split</a:t>
            </a:r>
          </a:p>
        </p:txBody>
      </p:sp>
      <p:sp>
        <p:nvSpPr>
          <p:cNvPr id="10" name="Rectangle 9">
            <a:extLst>
              <a:ext uri="{FF2B5EF4-FFF2-40B4-BE49-F238E27FC236}">
                <a16:creationId xmlns:a16="http://schemas.microsoft.com/office/drawing/2014/main" id="{1549948D-9BB8-4968-AE66-7148A5AF0151}"/>
              </a:ext>
            </a:extLst>
          </p:cNvPr>
          <p:cNvSpPr>
            <a:spLocks noGrp="1"/>
          </p:cNvSpPr>
          <p:nvPr/>
        </p:nvSpPr>
        <p:spPr>
          <a:xfrm>
            <a:off x="2247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Ask the user's job next</a:t>
            </a:r>
          </a:p>
        </p:txBody>
      </p:sp>
      <p:pic>
        <p:nvPicPr>
          <p:cNvPr id="42" name="Picture 41"/>
          <p:cNvPicPr>
            <a:picLocks noChangeAspect="1"/>
          </p:cNvPicPr>
          <p:nvPr/>
        </p:nvPicPr>
        <p:blipFill>
          <a:blip r:embed="rId5"/>
          <a:stretch/>
        </p:blipFill>
        <p:spPr>
          <a:xfrm>
            <a:off x="3848100" y="2502993"/>
            <a:ext cx="1276350" cy="2766414"/>
          </a:xfrm>
          <a:prstGeom prst="roundRect">
            <a:avLst>
              <a:gd name="adj" fmla="val 8955"/>
            </a:avLst>
          </a:prstGeom>
        </p:spPr>
      </p:pic>
      <p:sp>
        <p:nvSpPr>
          <p:cNvPr id="12" name="Rectangle 11">
            <a:extLst>
              <a:ext uri="{FF2B5EF4-FFF2-40B4-BE49-F238E27FC236}">
                <a16:creationId xmlns:a16="http://schemas.microsoft.com/office/drawing/2014/main" id="{2BD55806-A688-409F-8C42-04D2AA229409}"/>
              </a:ext>
            </a:extLst>
          </p:cNvPr>
          <p:cNvSpPr>
            <a:spLocks noGrp="1"/>
          </p:cNvSpPr>
          <p:nvPr/>
        </p:nvSpPr>
        <p:spPr>
          <a:xfrm>
            <a:off x="3771900" y="5353050"/>
            <a:ext cx="1428750" cy="190500"/>
          </a:xfrm>
          <a:prstGeom prst="rect">
            <a:avLst/>
          </a:prstGeom>
          <a:noFill/>
          <a:ln w="0">
            <a:noFill/>
            <a:prstDash val="solid"/>
          </a:ln>
        </p:spPr>
        <p:txBody>
          <a:bodyPr/>
          <a:lstStyle/>
          <a:p>
            <a:pPr algn="ctr">
              <a:defRPr sz="1050" b="1">
                <a:solidFill>
                  <a:srgbClr val="1B1C1B"/>
                </a:solidFill>
              </a:defRPr>
            </a:pPr>
            <a:r>
              <a:rPr sz="1050" b="1">
                <a:solidFill>
                  <a:srgbClr val="1B1C1B"/>
                </a:solidFill>
              </a:rPr>
              <a:t>Shop home</a:t>
            </a:r>
          </a:p>
        </p:txBody>
      </p:sp>
      <p:sp>
        <p:nvSpPr>
          <p:cNvPr id="13" name="Rectangle 12">
            <a:extLst>
              <a:ext uri="{FF2B5EF4-FFF2-40B4-BE49-F238E27FC236}">
                <a16:creationId xmlns:a16="http://schemas.microsoft.com/office/drawing/2014/main" id="{F89A5A08-A123-468E-86F5-DA3A0978619B}"/>
              </a:ext>
            </a:extLst>
          </p:cNvPr>
          <p:cNvSpPr>
            <a:spLocks noGrp="1"/>
          </p:cNvSpPr>
          <p:nvPr/>
        </p:nvSpPr>
        <p:spPr>
          <a:xfrm>
            <a:off x="3771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No account needed to browse</a:t>
            </a:r>
          </a:p>
        </p:txBody>
      </p:sp>
      <p:pic>
        <p:nvPicPr>
          <p:cNvPr id="45" name="Picture 44"/>
          <p:cNvPicPr>
            <a:picLocks noChangeAspect="1"/>
          </p:cNvPicPr>
          <p:nvPr/>
        </p:nvPicPr>
        <p:blipFill>
          <a:blip r:embed="rId6"/>
          <a:stretch/>
        </p:blipFill>
        <p:spPr>
          <a:xfrm>
            <a:off x="5372100" y="2502993"/>
            <a:ext cx="1276350" cy="2766414"/>
          </a:xfrm>
          <a:prstGeom prst="roundRect">
            <a:avLst>
              <a:gd name="adj" fmla="val 8955"/>
            </a:avLst>
          </a:prstGeom>
        </p:spPr>
      </p:pic>
      <p:sp>
        <p:nvSpPr>
          <p:cNvPr id="15" name="Rectangle 14">
            <a:extLst>
              <a:ext uri="{FF2B5EF4-FFF2-40B4-BE49-F238E27FC236}">
                <a16:creationId xmlns:a16="http://schemas.microsoft.com/office/drawing/2014/main" id="{8E27AB0A-2A59-437E-9D70-6ED33106AFCC}"/>
              </a:ext>
            </a:extLst>
          </p:cNvPr>
          <p:cNvSpPr>
            <a:spLocks noGrp="1"/>
          </p:cNvSpPr>
          <p:nvPr/>
        </p:nvSpPr>
        <p:spPr>
          <a:xfrm>
            <a:off x="5295900" y="5353050"/>
            <a:ext cx="1428750" cy="190500"/>
          </a:xfrm>
          <a:prstGeom prst="rect">
            <a:avLst/>
          </a:prstGeom>
          <a:noFill/>
          <a:ln w="0">
            <a:noFill/>
            <a:prstDash val="solid"/>
          </a:ln>
        </p:spPr>
        <p:txBody>
          <a:bodyPr/>
          <a:lstStyle/>
          <a:p>
            <a:pPr algn="ctr">
              <a:defRPr sz="1050" b="1">
                <a:solidFill>
                  <a:srgbClr val="006C48"/>
                </a:solidFill>
              </a:defRPr>
            </a:pPr>
            <a:r>
              <a:rPr sz="1050" b="1">
                <a:solidFill>
                  <a:srgbClr val="006C48"/>
                </a:solidFill>
              </a:rPr>
              <a:t>Cart RedPoints</a:t>
            </a:r>
          </a:p>
        </p:txBody>
      </p:sp>
      <p:sp>
        <p:nvSpPr>
          <p:cNvPr id="16" name="Rectangle 15">
            <a:extLst>
              <a:ext uri="{FF2B5EF4-FFF2-40B4-BE49-F238E27FC236}">
                <a16:creationId xmlns:a16="http://schemas.microsoft.com/office/drawing/2014/main" id="{4C233CE3-0A52-4A27-B99E-051BE37523A7}"/>
              </a:ext>
            </a:extLst>
          </p:cNvPr>
          <p:cNvSpPr>
            <a:spLocks noGrp="1"/>
          </p:cNvSpPr>
          <p:nvPr/>
        </p:nvSpPr>
        <p:spPr>
          <a:xfrm>
            <a:off x="5295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Loyalty appears with basket value</a:t>
            </a:r>
          </a:p>
        </p:txBody>
      </p:sp>
      <p:pic>
        <p:nvPicPr>
          <p:cNvPr id="48" name="Picture 47"/>
          <p:cNvPicPr>
            <a:picLocks noChangeAspect="1"/>
          </p:cNvPicPr>
          <p:nvPr/>
        </p:nvPicPr>
        <p:blipFill>
          <a:blip r:embed="rId7"/>
          <a:stretch/>
        </p:blipFill>
        <p:spPr>
          <a:xfrm>
            <a:off x="6896100" y="2502993"/>
            <a:ext cx="1276350" cy="2766414"/>
          </a:xfrm>
          <a:prstGeom prst="roundRect">
            <a:avLst>
              <a:gd name="adj" fmla="val 8955"/>
            </a:avLst>
          </a:prstGeom>
        </p:spPr>
      </p:pic>
      <p:sp>
        <p:nvSpPr>
          <p:cNvPr id="18" name="Rectangle 17">
            <a:extLst>
              <a:ext uri="{FF2B5EF4-FFF2-40B4-BE49-F238E27FC236}">
                <a16:creationId xmlns:a16="http://schemas.microsoft.com/office/drawing/2014/main" id="{FA218A36-F01C-48E8-9E1E-D6B08DD23A42}"/>
              </a:ext>
            </a:extLst>
          </p:cNvPr>
          <p:cNvSpPr>
            <a:spLocks noGrp="1"/>
          </p:cNvSpPr>
          <p:nvPr/>
        </p:nvSpPr>
        <p:spPr>
          <a:xfrm>
            <a:off x="6819900" y="5353050"/>
            <a:ext cx="1428750" cy="190500"/>
          </a:xfrm>
          <a:prstGeom prst="rect">
            <a:avLst/>
          </a:prstGeom>
          <a:noFill/>
          <a:ln w="0">
            <a:noFill/>
            <a:prstDash val="solid"/>
          </a:ln>
        </p:spPr>
        <p:txBody>
          <a:bodyPr/>
          <a:lstStyle/>
          <a:p>
            <a:pPr algn="ctr">
              <a:defRPr sz="1050" b="1">
                <a:solidFill>
                  <a:srgbClr val="1B1C1B"/>
                </a:solidFill>
              </a:defRPr>
            </a:pPr>
            <a:r>
              <a:rPr sz="1050" b="1">
                <a:solidFill>
                  <a:srgbClr val="1B1C1B"/>
                </a:solidFill>
              </a:rPr>
              <a:t>Card setup</a:t>
            </a:r>
          </a:p>
        </p:txBody>
      </p:sp>
      <p:sp>
        <p:nvSpPr>
          <p:cNvPr id="19" name="Rectangle 18">
            <a:extLst>
              <a:ext uri="{FF2B5EF4-FFF2-40B4-BE49-F238E27FC236}">
                <a16:creationId xmlns:a16="http://schemas.microsoft.com/office/drawing/2014/main" id="{C41A7EE2-A88A-4A17-B293-D516D4014F58}"/>
              </a:ext>
            </a:extLst>
          </p:cNvPr>
          <p:cNvSpPr>
            <a:spLocks noGrp="1"/>
          </p:cNvSpPr>
          <p:nvPr/>
        </p:nvSpPr>
        <p:spPr>
          <a:xfrm>
            <a:off x="6819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Explain requirements before NFC</a:t>
            </a:r>
          </a:p>
        </p:txBody>
      </p:sp>
      <p:pic>
        <p:nvPicPr>
          <p:cNvPr id="51" name="Picture 50"/>
          <p:cNvPicPr>
            <a:picLocks noChangeAspect="1"/>
          </p:cNvPicPr>
          <p:nvPr/>
        </p:nvPicPr>
        <p:blipFill>
          <a:blip r:embed="rId8"/>
          <a:stretch/>
        </p:blipFill>
        <p:spPr>
          <a:xfrm>
            <a:off x="8420100" y="2502993"/>
            <a:ext cx="1276350" cy="2766414"/>
          </a:xfrm>
          <a:prstGeom prst="roundRect">
            <a:avLst>
              <a:gd name="adj" fmla="val 8955"/>
            </a:avLst>
          </a:prstGeom>
        </p:spPr>
      </p:pic>
      <p:sp>
        <p:nvSpPr>
          <p:cNvPr id="21" name="Rectangle 20">
            <a:extLst>
              <a:ext uri="{FF2B5EF4-FFF2-40B4-BE49-F238E27FC236}">
                <a16:creationId xmlns:a16="http://schemas.microsoft.com/office/drawing/2014/main" id="{1156238F-6B81-415B-824D-B4ED6C11B727}"/>
              </a:ext>
            </a:extLst>
          </p:cNvPr>
          <p:cNvSpPr>
            <a:spLocks noGrp="1"/>
          </p:cNvSpPr>
          <p:nvPr/>
        </p:nvSpPr>
        <p:spPr>
          <a:xfrm>
            <a:off x="8343900" y="5353050"/>
            <a:ext cx="1428750" cy="190500"/>
          </a:xfrm>
          <a:prstGeom prst="rect">
            <a:avLst/>
          </a:prstGeom>
          <a:noFill/>
          <a:ln w="0">
            <a:noFill/>
            <a:prstDash val="solid"/>
          </a:ln>
        </p:spPr>
        <p:txBody>
          <a:bodyPr/>
          <a:lstStyle/>
          <a:p>
            <a:pPr algn="ctr">
              <a:defRPr sz="1050" b="1">
                <a:solidFill>
                  <a:srgbClr val="006C48"/>
                </a:solidFill>
              </a:defRPr>
            </a:pPr>
            <a:r>
              <a:rPr sz="1050" b="1">
                <a:solidFill>
                  <a:srgbClr val="006C48"/>
                </a:solidFill>
              </a:rPr>
              <a:t>Login</a:t>
            </a:r>
          </a:p>
        </p:txBody>
      </p:sp>
      <p:sp>
        <p:nvSpPr>
          <p:cNvPr id="22" name="Rectangle 21">
            <a:extLst>
              <a:ext uri="{FF2B5EF4-FFF2-40B4-BE49-F238E27FC236}">
                <a16:creationId xmlns:a16="http://schemas.microsoft.com/office/drawing/2014/main" id="{3353A7EF-14B9-4888-AA92-3A418952EFA5}"/>
              </a:ext>
            </a:extLst>
          </p:cNvPr>
          <p:cNvSpPr>
            <a:spLocks noGrp="1"/>
          </p:cNvSpPr>
          <p:nvPr/>
        </p:nvSpPr>
        <p:spPr>
          <a:xfrm>
            <a:off x="8343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Ask only when identity is needed</a:t>
            </a:r>
          </a:p>
        </p:txBody>
      </p:sp>
      <p:pic>
        <p:nvPicPr>
          <p:cNvPr id="54" name="Picture 53"/>
          <p:cNvPicPr>
            <a:picLocks noChangeAspect="1"/>
          </p:cNvPicPr>
          <p:nvPr/>
        </p:nvPicPr>
        <p:blipFill>
          <a:blip r:embed="rId9"/>
          <a:stretch/>
        </p:blipFill>
        <p:spPr>
          <a:xfrm>
            <a:off x="9944100" y="2502993"/>
            <a:ext cx="1276350" cy="2766414"/>
          </a:xfrm>
          <a:prstGeom prst="roundRect">
            <a:avLst>
              <a:gd name="adj" fmla="val 8955"/>
            </a:avLst>
          </a:prstGeom>
        </p:spPr>
      </p:pic>
      <p:sp>
        <p:nvSpPr>
          <p:cNvPr id="24" name="Rectangle 23">
            <a:extLst>
              <a:ext uri="{FF2B5EF4-FFF2-40B4-BE49-F238E27FC236}">
                <a16:creationId xmlns:a16="http://schemas.microsoft.com/office/drawing/2014/main" id="{758FA2A4-A181-4939-A063-C89575DA1B00}"/>
              </a:ext>
            </a:extLst>
          </p:cNvPr>
          <p:cNvSpPr>
            <a:spLocks noGrp="1"/>
          </p:cNvSpPr>
          <p:nvPr/>
        </p:nvSpPr>
        <p:spPr>
          <a:xfrm>
            <a:off x="9867900" y="5353050"/>
            <a:ext cx="1428750" cy="190500"/>
          </a:xfrm>
          <a:prstGeom prst="rect">
            <a:avLst/>
          </a:prstGeom>
          <a:noFill/>
          <a:ln w="0">
            <a:noFill/>
            <a:prstDash val="solid"/>
          </a:ln>
        </p:spPr>
        <p:txBody>
          <a:bodyPr/>
          <a:lstStyle/>
          <a:p>
            <a:pPr algn="ctr">
              <a:defRPr sz="1050" b="1">
                <a:solidFill>
                  <a:srgbClr val="006C48"/>
                </a:solidFill>
              </a:defRPr>
            </a:pPr>
            <a:r>
              <a:rPr sz="1050" b="1">
                <a:solidFill>
                  <a:srgbClr val="006C48"/>
                </a:solidFill>
              </a:rPr>
              <a:t>Push</a:t>
            </a:r>
          </a:p>
        </p:txBody>
      </p:sp>
      <p:sp>
        <p:nvSpPr>
          <p:cNvPr id="25" name="Rectangle 24">
            <a:extLst>
              <a:ext uri="{FF2B5EF4-FFF2-40B4-BE49-F238E27FC236}">
                <a16:creationId xmlns:a16="http://schemas.microsoft.com/office/drawing/2014/main" id="{6DE9911B-81A4-48DC-88BD-72AB48EE3EE8}"/>
              </a:ext>
            </a:extLst>
          </p:cNvPr>
          <p:cNvSpPr>
            <a:spLocks noGrp="1"/>
          </p:cNvSpPr>
          <p:nvPr/>
        </p:nvSpPr>
        <p:spPr>
          <a:xfrm>
            <a:off x="9867900" y="5562600"/>
            <a:ext cx="1428750" cy="342900"/>
          </a:xfrm>
          <a:prstGeom prst="rect">
            <a:avLst/>
          </a:prstGeom>
          <a:noFill/>
          <a:ln w="0">
            <a:noFill/>
            <a:prstDash val="solid"/>
          </a:ln>
        </p:spPr>
        <p:txBody>
          <a:bodyPr/>
          <a:lstStyle/>
          <a:p>
            <a:pPr algn="ctr">
              <a:defRPr sz="825">
                <a:solidFill>
                  <a:srgbClr val="645E5C"/>
                </a:solidFill>
              </a:defRPr>
            </a:pPr>
            <a:r>
              <a:rPr sz="825">
                <a:solidFill>
                  <a:srgbClr val="645E5C"/>
                </a:solidFill>
              </a:rPr>
              <a:t>Ask after status value exists</a:t>
            </a:r>
          </a:p>
        </p:txBody>
      </p:sp>
      <p:sp>
        <p:nvSpPr>
          <p:cNvPr id="26" name="Rounded Rectangle 25">
            <a:extLst>
              <a:ext uri="{FF2B5EF4-FFF2-40B4-BE49-F238E27FC236}">
                <a16:creationId xmlns:a16="http://schemas.microsoft.com/office/drawing/2014/main" id="{6B038179-657A-4D3B-91F2-3560E6B2D2E6}"/>
              </a:ext>
            </a:extLst>
          </p:cNvPr>
          <p:cNvSpPr>
            <a:spLocks noGrp="1"/>
          </p:cNvSpPr>
          <p:nvPr/>
        </p:nvSpPr>
        <p:spPr>
          <a:xfrm>
            <a:off x="1619250" y="6019800"/>
            <a:ext cx="3829050" cy="400050"/>
          </a:xfrm>
          <a:prstGeom prst="roundRect">
            <a:avLst>
              <a:gd name="adj" fmla="val 28571"/>
            </a:avLst>
          </a:prstGeom>
          <a:solidFill>
            <a:srgbClr val="FFF1EA"/>
          </a:solidFill>
          <a:ln w="0">
            <a:noFill/>
            <a:prstDash val="solid"/>
          </a:ln>
        </p:spPr>
        <p:txBody>
          <a:bodyPr/>
          <a:lstStyle/>
          <a:p>
            <a:endParaRPr lang="en-DE"/>
          </a:p>
        </p:txBody>
      </p:sp>
      <p:sp>
        <p:nvSpPr>
          <p:cNvPr id="27" name="Rectangle 26">
            <a:extLst>
              <a:ext uri="{FF2B5EF4-FFF2-40B4-BE49-F238E27FC236}">
                <a16:creationId xmlns:a16="http://schemas.microsoft.com/office/drawing/2014/main" id="{EC7EF9AA-75ED-49DC-93A8-42E9C210FB6D}"/>
              </a:ext>
            </a:extLst>
          </p:cNvPr>
          <p:cNvSpPr>
            <a:spLocks noGrp="1"/>
          </p:cNvSpPr>
          <p:nvPr/>
        </p:nvSpPr>
        <p:spPr>
          <a:xfrm>
            <a:off x="1847850" y="6072315"/>
            <a:ext cx="3371850" cy="171450"/>
          </a:xfrm>
          <a:prstGeom prst="rect">
            <a:avLst/>
          </a:prstGeom>
          <a:noFill/>
          <a:ln w="0">
            <a:noFill/>
            <a:prstDash val="solid"/>
          </a:ln>
        </p:spPr>
        <p:txBody>
          <a:bodyPr/>
          <a:lstStyle/>
          <a:p>
            <a:pPr algn="ctr">
              <a:defRPr sz="1200" b="1">
                <a:solidFill>
                  <a:srgbClr val="E4003A"/>
                </a:solidFill>
              </a:defRPr>
            </a:pPr>
            <a:r>
              <a:rPr sz="1200" b="1" dirty="0">
                <a:solidFill>
                  <a:srgbClr val="E4003A"/>
                </a:solidFill>
              </a:rPr>
              <a:t>Onboarding: consent and intent only</a:t>
            </a:r>
          </a:p>
        </p:txBody>
      </p:sp>
      <p:sp>
        <p:nvSpPr>
          <p:cNvPr id="28" name="Rounded Rectangle 27">
            <a:extLst>
              <a:ext uri="{FF2B5EF4-FFF2-40B4-BE49-F238E27FC236}">
                <a16:creationId xmlns:a16="http://schemas.microsoft.com/office/drawing/2014/main" id="{086E445E-F6E0-4240-8EAA-EF113040A93A}"/>
              </a:ext>
            </a:extLst>
          </p:cNvPr>
          <p:cNvSpPr>
            <a:spLocks noGrp="1"/>
          </p:cNvSpPr>
          <p:nvPr/>
        </p:nvSpPr>
        <p:spPr>
          <a:xfrm>
            <a:off x="6743700" y="6019800"/>
            <a:ext cx="3829050" cy="400050"/>
          </a:xfrm>
          <a:prstGeom prst="roundRect">
            <a:avLst>
              <a:gd name="adj" fmla="val 28571"/>
            </a:avLst>
          </a:prstGeom>
          <a:solidFill>
            <a:srgbClr val="DDF3E6"/>
          </a:solidFill>
          <a:ln w="0">
            <a:noFill/>
            <a:prstDash val="solid"/>
          </a:ln>
        </p:spPr>
        <p:txBody>
          <a:bodyPr/>
          <a:lstStyle/>
          <a:p>
            <a:endParaRPr lang="en-DE"/>
          </a:p>
        </p:txBody>
      </p:sp>
      <p:sp>
        <p:nvSpPr>
          <p:cNvPr id="29" name="Rectangle 28">
            <a:extLst>
              <a:ext uri="{FF2B5EF4-FFF2-40B4-BE49-F238E27FC236}">
                <a16:creationId xmlns:a16="http://schemas.microsoft.com/office/drawing/2014/main" id="{571FD85E-EE1C-425D-9A5D-7B5219B996D2}"/>
              </a:ext>
            </a:extLst>
          </p:cNvPr>
          <p:cNvSpPr>
            <a:spLocks noGrp="1"/>
          </p:cNvSpPr>
          <p:nvPr/>
        </p:nvSpPr>
        <p:spPr>
          <a:xfrm>
            <a:off x="6972300" y="6072315"/>
            <a:ext cx="3371850" cy="171450"/>
          </a:xfrm>
          <a:prstGeom prst="rect">
            <a:avLst/>
          </a:prstGeom>
          <a:noFill/>
          <a:ln w="0">
            <a:noFill/>
            <a:prstDash val="solid"/>
          </a:ln>
        </p:spPr>
        <p:txBody>
          <a:bodyPr/>
          <a:lstStyle/>
          <a:p>
            <a:pPr algn="ctr">
              <a:defRPr sz="1200" b="1">
                <a:solidFill>
                  <a:srgbClr val="006C48"/>
                </a:solidFill>
              </a:defRPr>
            </a:pPr>
            <a:r>
              <a:rPr sz="1200" b="1" dirty="0">
                <a:solidFill>
                  <a:srgbClr val="006C48"/>
                </a:solidFill>
              </a:rPr>
              <a:t>Delayed asks: cart, card setup, account, status</a:t>
            </a:r>
          </a:p>
        </p:txBody>
      </p:sp>
      <p:sp>
        <p:nvSpPr>
          <p:cNvPr id="30" name="Rectangle 29">
            <a:extLst>
              <a:ext uri="{FF2B5EF4-FFF2-40B4-BE49-F238E27FC236}">
                <a16:creationId xmlns:a16="http://schemas.microsoft.com/office/drawing/2014/main" id="{E87B2AEF-60B4-411E-9EDC-F4684666E185}"/>
              </a:ext>
            </a:extLst>
          </p:cNvPr>
          <p:cNvSpPr>
            <a:spLocks noGrp="1"/>
          </p:cNvSpPr>
          <p:nvPr/>
        </p:nvSpPr>
        <p:spPr>
          <a:xfrm>
            <a:off x="609600" y="6400800"/>
            <a:ext cx="4000500" cy="228600"/>
          </a:xfrm>
          <a:prstGeom prst="rect">
            <a:avLst/>
          </a:prstGeom>
          <a:noFill/>
          <a:ln w="0">
            <a:noFill/>
            <a:prstDash val="solid"/>
          </a:ln>
        </p:spPr>
        <p:txBody>
          <a:bodyPr/>
          <a:lstStyle/>
          <a:p>
            <a:pPr>
              <a:defRPr sz="975">
                <a:solidFill>
                  <a:srgbClr val="8A817D"/>
                </a:solidFill>
              </a:defRPr>
            </a:pPr>
            <a:r>
              <a:rPr sz="975">
                <a:solidFill>
                  <a:srgbClr val="8A817D"/>
                </a:solidFill>
              </a:rPr>
              <a:t>Redcare iOS onboarding recommendation</a:t>
            </a:r>
          </a:p>
        </p:txBody>
      </p:sp>
      <p:sp>
        <p:nvSpPr>
          <p:cNvPr id="31" name="Rectangle 30">
            <a:extLst>
              <a:ext uri="{FF2B5EF4-FFF2-40B4-BE49-F238E27FC236}">
                <a16:creationId xmlns:a16="http://schemas.microsoft.com/office/drawing/2014/main" id="{FA8C96FD-1232-4ED9-96CF-2304B61AE7CF}"/>
              </a:ext>
            </a:extLst>
          </p:cNvPr>
          <p:cNvSpPr>
            <a:spLocks noGrp="1"/>
          </p:cNvSpPr>
          <p:nvPr/>
        </p:nvSpPr>
        <p:spPr>
          <a:xfrm>
            <a:off x="11049000" y="6400800"/>
            <a:ext cx="571500" cy="228600"/>
          </a:xfrm>
          <a:prstGeom prst="rect">
            <a:avLst/>
          </a:prstGeom>
          <a:noFill/>
          <a:ln w="0">
            <a:noFill/>
            <a:prstDash val="solid"/>
          </a:ln>
        </p:spPr>
        <p:txBody>
          <a:bodyPr/>
          <a:lstStyle/>
          <a:p>
            <a:pPr algn="r">
              <a:defRPr sz="975">
                <a:solidFill>
                  <a:srgbClr val="8A817D"/>
                </a:solidFill>
              </a:defRPr>
            </a:pPr>
            <a:r>
              <a:rPr sz="975">
                <a:solidFill>
                  <a:srgbClr val="8A817D"/>
                </a:solidFill>
              </a:rPr>
              <a:t>18/18</a:t>
            </a:r>
          </a:p>
        </p:txBody>
      </p:sp>
    </p:spTree>
    <p:extLst>
      <p:ext uri="{BB962C8B-B14F-4D97-AF65-F5344CB8AC3E}">
        <p14:creationId xmlns:p14="http://schemas.microsoft.com/office/powerpoint/2010/main" val="1772484846"/>
      </p:ext>
    </p:extLst>
  </p:cSld>
  <p:clrMapOvr>
    <a:masterClrMapping/>
  </p:clrMapOvr>
  <p:transition spd="med">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856</Words>
  <Application>Microsoft Macintosh PowerPoint</Application>
  <DocSecurity>0</DocSecurity>
  <PresentationFormat>Widescreen</PresentationFormat>
  <Paragraphs>128</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Etjen Ymeraj</cp:lastModifiedBy>
  <cp:revision>5</cp:revision>
  <dcterms:created xsi:type="dcterms:W3CDTF">2026-09-23T07:17:32Z</dcterms:created>
  <dcterms:modified xsi:type="dcterms:W3CDTF">2026-09-24T07:19:38Z</dcterms:modified>
</cp:coreProperties>
</file>